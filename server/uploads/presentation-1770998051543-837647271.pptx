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9" r:id="rId11"/>
    <p:sldId id="266" r:id="rId12"/>
    <p:sldId id="267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DDA9C-861A-454D-B86B-485794945B42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82626-C278-4731-856F-4417E4E44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15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382626-C278-4731-856F-4417E4E44C6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63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5273A-7D27-4365-BC38-2DD37044D610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21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E9E2-049C-4E3C-B881-4D2085E445A8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4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A143-FCE1-4FD2-A806-602F74FD064C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5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DE5D-E1AE-4441-BB7D-871EA452D933}" type="datetime1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31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644D-A1D6-436D-8598-9E68CD848B52}" type="datetime1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63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BDF9A-F6A2-40DA-B0CF-616ADCE66BCC}" type="datetime1">
              <a:rPr lang="fr-FR" smtClean="0"/>
              <a:t>25/11/2025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08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E218-54E6-426E-9BD5-337785C7C3F2}" type="datetime1">
              <a:rPr lang="fr-FR" smtClean="0"/>
              <a:t>25/11/2025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59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28F9732-C1B6-4F11-B182-DAF5464E28A5}" type="datetime1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27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7E208-E40F-446C-B332-DC5350A41DB5}" type="datetime1">
              <a:rPr lang="fr-FR" smtClean="0"/>
              <a:t>25/11/2025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03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0933-540E-4628-B654-77C9BF7832F2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04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A3F58-DF11-4DAB-ADB0-0459BCAE624D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93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ECD65C6-E765-4C2D-8025-B78D8C55C3CA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95F0855-220A-4D7D-B6D7-B6305D7B126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45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 : </a:t>
            </a:r>
            <a:r>
              <a:rPr lang="fr-FR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 d’articles de la DUM</a:t>
            </a:r>
            <a:endParaRPr lang="fr-F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5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0025" y="286603"/>
            <a:ext cx="10955655" cy="1450757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Exemple explicatif n°1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0025" y="1845734"/>
            <a:ext cx="10955655" cy="1040341"/>
          </a:xfr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Nous disposons de la facture définitive ci-dessous liée à une importation sous le régime de la mise à la consommation (Code 010)</a:t>
            </a:r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212402"/>
              </p:ext>
            </p:extLst>
          </p:nvPr>
        </p:nvGraphicFramePr>
        <p:xfrm>
          <a:off x="209550" y="3119966"/>
          <a:ext cx="1094613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4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Réf.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Quantité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Désignation de l’article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Pays d’origine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PU HT FOB en 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Montant HT FOB en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 à micro-ondes Marque</a:t>
                      </a:r>
                      <a:r>
                        <a:rPr lang="fr-FR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LG</a:t>
                      </a: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 à micro-ondes Marque</a:t>
                      </a:r>
                      <a:r>
                        <a:rPr lang="fr-FR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MOULINEX</a:t>
                      </a: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Total FOB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25 000,00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Poids net total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350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52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97309" y="1020018"/>
            <a:ext cx="939864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HYPOTHÈSES DE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7309" y="2214140"/>
            <a:ext cx="9398640" cy="30176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 DE CHANGE EUR/MAD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10,20132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TRANSPORT PRINCIPAL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2 000,00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PASSAGE PORTUAIRE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500,00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 À DÉCLARER TOTALE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258 305,00 MAD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49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175" y="1726075"/>
            <a:ext cx="4819650" cy="981075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SENS COMMERCIAL DU TERME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1175" y="1726075"/>
            <a:ext cx="3238500" cy="981075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175" y="3067050"/>
            <a:ext cx="4819650" cy="9810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 SEULE POSITION TARIFAIRE POUR LES 2 RÉFÉRENCES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1175" y="3067050"/>
            <a:ext cx="3238500" cy="9810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85 16 50 00 00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75" y="4314825"/>
            <a:ext cx="4819650" cy="98107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SEUL PAYS D’ORIGINE POUR LES 2 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1175" y="4314825"/>
            <a:ext cx="3238500" cy="98107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FRANCE</a:t>
            </a:r>
          </a:p>
        </p:txBody>
      </p:sp>
      <p:sp>
        <p:nvSpPr>
          <p:cNvPr id="8" name="Accolade fermante 7"/>
          <p:cNvSpPr/>
          <p:nvPr/>
        </p:nvSpPr>
        <p:spPr>
          <a:xfrm>
            <a:off x="9344025" y="1600200"/>
            <a:ext cx="695325" cy="3695700"/>
          </a:xfrm>
          <a:prstGeom prst="rightBrace">
            <a:avLst/>
          </a:prstGeom>
          <a:ln w="539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>
            <a:off x="10278319" y="2928395"/>
            <a:ext cx="1632030" cy="995423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51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20458" y="544017"/>
            <a:ext cx="9398642" cy="1271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GÉNÉRALE)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458" y="2144697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7308" y="2144696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0458" y="3454564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7308" y="3454563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FRANCE FR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0458" y="4764431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7308" y="4764430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258 305,00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2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3620" y="196777"/>
            <a:ext cx="11725154" cy="567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SPÉCIFIQUE)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620" y="917781"/>
            <a:ext cx="2430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28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3620" y="1638794"/>
            <a:ext cx="2430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FOURS A MICRO-ONDES SOIT 150 UNITÉS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60876" y="917781"/>
            <a:ext cx="156065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29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0876" y="1638794"/>
            <a:ext cx="156065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8101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30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78101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8516500000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96268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31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96268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14435" y="917781"/>
            <a:ext cx="121341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32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4435" y="1638794"/>
            <a:ext cx="121341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84420" y="917781"/>
            <a:ext cx="151435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33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384420" y="1638794"/>
            <a:ext cx="151435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620" y="3633021"/>
            <a:ext cx="4247909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34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3620" y="4354034"/>
            <a:ext cx="4247909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8101" y="3633021"/>
            <a:ext cx="131758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35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678101" y="4354034"/>
            <a:ext cx="131758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52259" y="3633021"/>
            <a:ext cx="3204258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36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52259" y="4354034"/>
            <a:ext cx="3204258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FRANCE FR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713090" y="3633021"/>
            <a:ext cx="2185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37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713090" y="4354034"/>
            <a:ext cx="2185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N° DE LA DÉCLARATION SOMMAIRE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9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0025" y="286603"/>
            <a:ext cx="10955655" cy="1450757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Exemple explicatif n°2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9839" y="1892033"/>
            <a:ext cx="11132530" cy="1040341"/>
          </a:xfr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Nous disposons de la facture définitive ci-dessous liée à une importation sous le régime de la mise à la consommation (Code 010)</a:t>
            </a:r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09150"/>
              </p:ext>
            </p:extLst>
          </p:nvPr>
        </p:nvGraphicFramePr>
        <p:xfrm>
          <a:off x="439838" y="3119966"/>
          <a:ext cx="11144104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0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1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7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69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Réf.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Quantité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Désignation de l’article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Pays d’origine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Poids net unitaire en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PU HT FOB en 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Montant HT FOB en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 à micro-ondes Marque</a:t>
                      </a:r>
                      <a:r>
                        <a:rPr lang="fr-FR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LG</a:t>
                      </a: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Allemagne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Four à micro-ondes Marque</a:t>
                      </a:r>
                      <a:r>
                        <a:rPr lang="fr-FR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MOULINEX</a:t>
                      </a: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r"/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Total FOB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25 000,00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Poids net total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350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0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97310" y="499158"/>
            <a:ext cx="939864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HYPOTHÈSES DE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97310" y="1693280"/>
            <a:ext cx="9398640" cy="39204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 DE CHANGE EUR/MAD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10,20132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TRANSPORT PRINCIPAL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2 000,00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FRAIS DE PASSAGE PORTUAIRE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500,00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 À DÉCLARER TOTALE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V.A.D. (ORIGINE ALLEMAGNE)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154 983,00 MAD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V.A.D. (ORIGINE FRANCE) : </a:t>
            </a:r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103 322,00 MAD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597310" y="5775767"/>
            <a:ext cx="4027986" cy="38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V.A.D. : VALEUR À DÉCLARER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477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175" y="1726075"/>
            <a:ext cx="4819650" cy="981075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SENS COMMERCIAL DU TERME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1175" y="1726075"/>
            <a:ext cx="3238500" cy="981075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175" y="3067050"/>
            <a:ext cx="4819650" cy="9810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 SEULE POSITION TARIFAIRE POUR LES 2 RÉFÉRENCES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1175" y="3067050"/>
            <a:ext cx="3238500" cy="9810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85 16 50 00 00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75" y="4314825"/>
            <a:ext cx="4819650" cy="98107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PAYS D’ORIGINE POUR LES 2 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1175" y="4314825"/>
            <a:ext cx="3238500" cy="981075"/>
          </a:xfrm>
          <a:prstGeom prst="rect">
            <a:avLst/>
          </a:prstGeom>
          <a:solidFill>
            <a:srgbClr val="FFFF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ALLEMAGNE / FRANCE</a:t>
            </a:r>
          </a:p>
        </p:txBody>
      </p:sp>
      <p:sp>
        <p:nvSpPr>
          <p:cNvPr id="8" name="Accolade fermante 7"/>
          <p:cNvSpPr/>
          <p:nvPr/>
        </p:nvSpPr>
        <p:spPr>
          <a:xfrm>
            <a:off x="9344025" y="1600200"/>
            <a:ext cx="695325" cy="3695700"/>
          </a:xfrm>
          <a:prstGeom prst="rightBrace">
            <a:avLst/>
          </a:prstGeom>
          <a:ln w="539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>
            <a:off x="10278319" y="2928395"/>
            <a:ext cx="1632030" cy="995423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73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2004" y="1872335"/>
            <a:ext cx="10058400" cy="1450757"/>
          </a:xfr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ctr"/>
          <a:lstStyle/>
          <a:p>
            <a:pPr algn="ctr"/>
            <a:r>
              <a:rPr lang="fr-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 1 : DÉCLARATION DE 2 ARTICLES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25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20458" y="544017"/>
            <a:ext cx="9398642" cy="1271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GÉNÉRALE)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458" y="2144697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7308" y="2144696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0458" y="3454564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7308" y="3454563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20458" y="4764431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7308" y="4764430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258 305,00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85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3620" y="196777"/>
            <a:ext cx="11725154" cy="567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SPÉCIFIQUE)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620" y="917781"/>
            <a:ext cx="2430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28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3620" y="1638794"/>
            <a:ext cx="2430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FOURS A MICRO-ONDES SOIT 100 UNITÉS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60876" y="917781"/>
            <a:ext cx="156065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29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0876" y="1638794"/>
            <a:ext cx="156065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8101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30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78101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8516500000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96268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31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96268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154 983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14435" y="917781"/>
            <a:ext cx="121341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32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4435" y="1638794"/>
            <a:ext cx="121341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84420" y="917781"/>
            <a:ext cx="151435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33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384420" y="1638794"/>
            <a:ext cx="151435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620" y="3633021"/>
            <a:ext cx="4247909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34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3620" y="4354034"/>
            <a:ext cx="4247909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8101" y="3633021"/>
            <a:ext cx="131758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35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678101" y="4354034"/>
            <a:ext cx="131758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52259" y="3633021"/>
            <a:ext cx="3204258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36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52259" y="4354034"/>
            <a:ext cx="3204258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ALLEMAGNE DE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713090" y="3633021"/>
            <a:ext cx="2185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37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713090" y="4354034"/>
            <a:ext cx="2185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N° DE LA DÉCLARATION SOMMAIRE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8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3620" y="196777"/>
            <a:ext cx="11725154" cy="567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SPÉCIFIQUE)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620" y="917781"/>
            <a:ext cx="2430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28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3620" y="1638794"/>
            <a:ext cx="2430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FOURS A MICRO-ONDES SOIT 50 UNITÉS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60876" y="917781"/>
            <a:ext cx="156065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29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0876" y="1638794"/>
            <a:ext cx="156065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002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8101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30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78101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8516500000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96268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31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96268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103 322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14435" y="917781"/>
            <a:ext cx="121341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32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4435" y="1638794"/>
            <a:ext cx="121341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84420" y="917781"/>
            <a:ext cx="151435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33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384420" y="1638794"/>
            <a:ext cx="151435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620" y="3633021"/>
            <a:ext cx="4247909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34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3620" y="4354034"/>
            <a:ext cx="4247909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8101" y="3633021"/>
            <a:ext cx="131758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35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678101" y="4354034"/>
            <a:ext cx="131758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52259" y="3633021"/>
            <a:ext cx="3204258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36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52259" y="4354034"/>
            <a:ext cx="3204258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FRANCE FR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713090" y="3633021"/>
            <a:ext cx="2185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37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713090" y="4354034"/>
            <a:ext cx="2185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N° DE LA DÉCLARATION SOMMAIRE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9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2004" y="1872335"/>
            <a:ext cx="10058400" cy="1450757"/>
          </a:xfr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anchor="ctr"/>
          <a:lstStyle/>
          <a:p>
            <a:pPr algn="ctr"/>
            <a:r>
              <a:rPr lang="fr-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 2 : DÉCLARATION D’UN SEUL ARTICLE</a:t>
            </a:r>
          </a:p>
        </p:txBody>
      </p:sp>
      <p:sp>
        <p:nvSpPr>
          <p:cNvPr id="3" name="Titre 1"/>
          <p:cNvSpPr txBox="1">
            <a:spLocks/>
          </p:cNvSpPr>
          <p:nvPr/>
        </p:nvSpPr>
        <p:spPr>
          <a:xfrm>
            <a:off x="1132004" y="3633616"/>
            <a:ext cx="10058400" cy="1450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cap="small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Retenir le pays pour lequel la valeur à déclarer est la + élevée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89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20458" y="544017"/>
            <a:ext cx="9398642" cy="1271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GÉNÉRALE)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0458" y="2144697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7308" y="2144696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0458" y="3454564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7308" y="3454563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20458" y="4764431"/>
            <a:ext cx="3345081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7308" y="4764430"/>
            <a:ext cx="5611792" cy="981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258 305,00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23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3620" y="196777"/>
            <a:ext cx="11725154" cy="567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INDICATIONS À PORTER SUR LA D.U.M (PARTIE SPÉCIFIQUE)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620" y="917781"/>
            <a:ext cx="2430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28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3620" y="1638794"/>
            <a:ext cx="2430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FOURS A MICRO-ONDES SOIT 100 UNITÉS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60876" y="917781"/>
            <a:ext cx="156065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29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0876" y="1638794"/>
            <a:ext cx="156065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8101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30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78101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8516500000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96268" y="917781"/>
            <a:ext cx="186159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31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96268" y="1638794"/>
            <a:ext cx="186159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258 305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14435" y="917781"/>
            <a:ext cx="1213413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32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4435" y="1638794"/>
            <a:ext cx="1213413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84420" y="917781"/>
            <a:ext cx="151435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33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384420" y="1638794"/>
            <a:ext cx="151435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620" y="3633021"/>
            <a:ext cx="4247909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34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3620" y="4354034"/>
            <a:ext cx="4247909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8101" y="3633021"/>
            <a:ext cx="1317585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35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678101" y="4354034"/>
            <a:ext cx="1317585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52259" y="3633021"/>
            <a:ext cx="3204258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36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52259" y="4354034"/>
            <a:ext cx="3204258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ALLEMAGNE DE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713090" y="3633021"/>
            <a:ext cx="2185684" cy="5985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37</a:t>
            </a:r>
            <a:endParaRPr lang="fr-FR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713090" y="4354034"/>
            <a:ext cx="2185684" cy="1871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N° DE LA DÉCLARATION SOMMAIRE</a:t>
            </a:r>
            <a:endParaRPr lang="fr-FR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06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54240" y="1998082"/>
            <a:ext cx="3345081" cy="33146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38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1090" y="1998081"/>
            <a:ext cx="5611792" cy="33146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NOUS DÉCLARONS LES MARCHANDISES ORIGINAIRES DE 2 PAYS DE L’UNION EUROPÉENNE (ALLEMAGNE ET FRANCE)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0855-220A-4D7D-B6D7-B6305D7B126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83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203</TotalTime>
  <Words>686</Words>
  <Application>Microsoft Office PowerPoint</Application>
  <PresentationFormat>Grand écran</PresentationFormat>
  <Paragraphs>195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Aharoni</vt:lpstr>
      <vt:lpstr>Arial</vt:lpstr>
      <vt:lpstr>Calibri</vt:lpstr>
      <vt:lpstr>Calibri Light</vt:lpstr>
      <vt:lpstr>Rétrospective</vt:lpstr>
      <vt:lpstr>Case 3 : Nombre d’articles de la DUM</vt:lpstr>
      <vt:lpstr>Exemple explicatif n°1</vt:lpstr>
      <vt:lpstr>Présentation PowerPoint</vt:lpstr>
      <vt:lpstr>Présentation PowerPoint</vt:lpstr>
      <vt:lpstr>Présentation PowerPoint</vt:lpstr>
      <vt:lpstr>Présentation PowerPoint</vt:lpstr>
      <vt:lpstr>Exemple explicatif n°2</vt:lpstr>
      <vt:lpstr>Présentation PowerPoint</vt:lpstr>
      <vt:lpstr>Présentation PowerPoint</vt:lpstr>
      <vt:lpstr>OPTION 1 : DÉCLARATION DE 2 ARTICLES</vt:lpstr>
      <vt:lpstr>Présentation PowerPoint</vt:lpstr>
      <vt:lpstr>Présentation PowerPoint</vt:lpstr>
      <vt:lpstr>Présentation PowerPoint</vt:lpstr>
      <vt:lpstr>OPTION 2 : DÉCLARATION D’UN SEUL ARTICLE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3 : Nombre d’articles</dc:title>
  <dc:creator>USER</dc:creator>
  <cp:lastModifiedBy>Lenovo</cp:lastModifiedBy>
  <cp:revision>10</cp:revision>
  <dcterms:created xsi:type="dcterms:W3CDTF">2022-11-15T16:20:14Z</dcterms:created>
  <dcterms:modified xsi:type="dcterms:W3CDTF">2025-11-25T13:29:49Z</dcterms:modified>
</cp:coreProperties>
</file>