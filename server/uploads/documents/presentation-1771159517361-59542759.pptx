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264" r:id="rId2"/>
    <p:sldId id="684" r:id="rId3"/>
    <p:sldId id="667" r:id="rId4"/>
    <p:sldId id="265" r:id="rId5"/>
    <p:sldId id="352" r:id="rId6"/>
    <p:sldId id="688" r:id="rId7"/>
    <p:sldId id="689" r:id="rId8"/>
    <p:sldId id="690" r:id="rId9"/>
    <p:sldId id="691" r:id="rId10"/>
    <p:sldId id="692" r:id="rId11"/>
    <p:sldId id="665" r:id="rId12"/>
    <p:sldId id="666" r:id="rId13"/>
    <p:sldId id="353" r:id="rId14"/>
    <p:sldId id="670" r:id="rId15"/>
    <p:sldId id="668" r:id="rId16"/>
    <p:sldId id="669" r:id="rId17"/>
    <p:sldId id="366" r:id="rId18"/>
    <p:sldId id="374" r:id="rId19"/>
    <p:sldId id="367" r:id="rId20"/>
    <p:sldId id="375" r:id="rId21"/>
    <p:sldId id="376" r:id="rId22"/>
    <p:sldId id="370" r:id="rId23"/>
    <p:sldId id="372" r:id="rId24"/>
    <p:sldId id="657" r:id="rId25"/>
    <p:sldId id="658" r:id="rId26"/>
    <p:sldId id="659" r:id="rId27"/>
    <p:sldId id="660" r:id="rId28"/>
    <p:sldId id="661" r:id="rId29"/>
    <p:sldId id="379" r:id="rId30"/>
    <p:sldId id="380" r:id="rId31"/>
    <p:sldId id="671" r:id="rId32"/>
    <p:sldId id="381" r:id="rId33"/>
    <p:sldId id="672" r:id="rId34"/>
    <p:sldId id="382" r:id="rId35"/>
    <p:sldId id="673" r:id="rId36"/>
    <p:sldId id="383" r:id="rId37"/>
    <p:sldId id="674" r:id="rId38"/>
    <p:sldId id="656" r:id="rId39"/>
    <p:sldId id="675" r:id="rId40"/>
    <p:sldId id="384" r:id="rId41"/>
    <p:sldId id="676" r:id="rId42"/>
    <p:sldId id="386" r:id="rId43"/>
    <p:sldId id="678" r:id="rId44"/>
    <p:sldId id="387" r:id="rId45"/>
    <p:sldId id="679" r:id="rId46"/>
    <p:sldId id="388" r:id="rId47"/>
    <p:sldId id="680" r:id="rId48"/>
    <p:sldId id="389" r:id="rId49"/>
    <p:sldId id="681" r:id="rId50"/>
    <p:sldId id="390" r:id="rId51"/>
    <p:sldId id="682" r:id="rId52"/>
    <p:sldId id="686" r:id="rId53"/>
    <p:sldId id="687" r:id="rId54"/>
  </p:sldIdLst>
  <p:sldSz cx="12192000" cy="6858000"/>
  <p:notesSz cx="9947275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6600"/>
    <a:srgbClr val="CC0000"/>
    <a:srgbClr val="666633"/>
    <a:srgbClr val="66FF99"/>
    <a:srgbClr val="000000"/>
    <a:srgbClr val="336600"/>
    <a:srgbClr val="000099"/>
    <a:srgbClr val="6633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48" y="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293B4A-D500-4647-8592-3B13D4C46D31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fr-FR"/>
        </a:p>
      </dgm:t>
    </dgm:pt>
    <dgm:pt modelId="{216DCD0F-24A8-40DE-8002-7F3E07B06E6D}">
      <dgm:prSet phldrT="[Texte]"/>
      <dgm:spPr>
        <a:solidFill>
          <a:srgbClr val="000000"/>
        </a:solidFill>
        <a:ln>
          <a:noFill/>
        </a:ln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fr-FR" b="1" cap="small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Famille E</a:t>
          </a:r>
        </a:p>
      </dgm:t>
    </dgm:pt>
    <dgm:pt modelId="{E0E74778-F586-4A0D-A834-56BB168E3A71}" type="parTrans" cxnId="{70DBF9CE-F0EF-41EB-A483-E55E25C2B77A}">
      <dgm:prSet/>
      <dgm:spPr/>
      <dgm:t>
        <a:bodyPr/>
        <a:lstStyle/>
        <a:p>
          <a:endParaRPr lang="fr-FR"/>
        </a:p>
      </dgm:t>
    </dgm:pt>
    <dgm:pt modelId="{1689682C-0D93-45C7-B78C-A3D32AFD51E8}" type="sibTrans" cxnId="{70DBF9CE-F0EF-41EB-A483-E55E25C2B77A}">
      <dgm:prSet/>
      <dgm:spPr/>
      <dgm:t>
        <a:bodyPr/>
        <a:lstStyle/>
        <a:p>
          <a:endParaRPr lang="fr-FR"/>
        </a:p>
      </dgm:t>
    </dgm:pt>
    <dgm:pt modelId="{A55056F2-89F2-46EC-829A-3E572B348417}">
      <dgm:prSet phldrT="[Texte]"/>
      <dgm:spPr>
        <a:solidFill>
          <a:srgbClr val="663300"/>
        </a:solidFill>
        <a:ln>
          <a:noFill/>
        </a:ln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fr-FR" b="1" cap="small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Famille F (Free)</a:t>
          </a:r>
        </a:p>
      </dgm:t>
    </dgm:pt>
    <dgm:pt modelId="{CB8632A2-94EE-49B1-B6D3-E216F260D4C2}" type="parTrans" cxnId="{EC1B77EF-83E6-451E-BC72-CA7C47126EC0}">
      <dgm:prSet/>
      <dgm:spPr/>
      <dgm:t>
        <a:bodyPr/>
        <a:lstStyle/>
        <a:p>
          <a:endParaRPr lang="fr-FR"/>
        </a:p>
      </dgm:t>
    </dgm:pt>
    <dgm:pt modelId="{855AE124-B2CA-4CA3-96DA-A22194DC58C6}" type="sibTrans" cxnId="{EC1B77EF-83E6-451E-BC72-CA7C47126EC0}">
      <dgm:prSet/>
      <dgm:spPr/>
      <dgm:t>
        <a:bodyPr/>
        <a:lstStyle/>
        <a:p>
          <a:endParaRPr lang="fr-FR"/>
        </a:p>
      </dgm:t>
    </dgm:pt>
    <dgm:pt modelId="{2E875368-B2FF-4DE7-820B-41DCFDC1B46D}">
      <dgm:prSet phldrT="[Texte]"/>
      <dgm:spPr>
        <a:solidFill>
          <a:srgbClr val="000099"/>
        </a:solidFill>
        <a:ln>
          <a:noFill/>
        </a:ln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fr-FR" b="1" cap="small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Famille C (</a:t>
          </a:r>
          <a:r>
            <a:rPr lang="fr-FR" b="1" cap="small" baseline="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Cost</a:t>
          </a:r>
          <a:r>
            <a:rPr lang="fr-FR" b="1" cap="small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or </a:t>
          </a:r>
          <a:r>
            <a:rPr lang="fr-FR" b="1" cap="small" baseline="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carriage</a:t>
          </a:r>
          <a:r>
            <a:rPr lang="fr-FR" b="1" cap="small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</a:p>
      </dgm:t>
    </dgm:pt>
    <dgm:pt modelId="{B9EF7E0B-0DB9-4479-91EC-1E3198675D97}" type="parTrans" cxnId="{BDDDB159-B093-4DB5-AF01-6EF03095F561}">
      <dgm:prSet/>
      <dgm:spPr/>
      <dgm:t>
        <a:bodyPr/>
        <a:lstStyle/>
        <a:p>
          <a:endParaRPr lang="fr-FR"/>
        </a:p>
      </dgm:t>
    </dgm:pt>
    <dgm:pt modelId="{55093111-245E-462B-884B-44DF07F153AF}" type="sibTrans" cxnId="{BDDDB159-B093-4DB5-AF01-6EF03095F561}">
      <dgm:prSet/>
      <dgm:spPr/>
      <dgm:t>
        <a:bodyPr/>
        <a:lstStyle/>
        <a:p>
          <a:endParaRPr lang="fr-FR"/>
        </a:p>
      </dgm:t>
    </dgm:pt>
    <dgm:pt modelId="{C37D0BE5-FEFC-4103-829F-9C21599DA847}">
      <dgm:prSet/>
      <dgm:spPr>
        <a:solidFill>
          <a:srgbClr val="336600"/>
        </a:solidFill>
        <a:ln>
          <a:noFill/>
        </a:ln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fr-FR" b="1" cap="small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Famille D (</a:t>
          </a:r>
          <a:r>
            <a:rPr lang="fr-FR" b="1" cap="small" baseline="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Delivred</a:t>
          </a:r>
          <a:r>
            <a:rPr lang="fr-FR" b="1" cap="small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</a:p>
      </dgm:t>
    </dgm:pt>
    <dgm:pt modelId="{457E156C-348A-4ACB-9811-C8AA15C80488}" type="parTrans" cxnId="{EEC47C86-F85A-4691-891B-02494F46F316}">
      <dgm:prSet/>
      <dgm:spPr/>
      <dgm:t>
        <a:bodyPr/>
        <a:lstStyle/>
        <a:p>
          <a:endParaRPr lang="fr-FR"/>
        </a:p>
      </dgm:t>
    </dgm:pt>
    <dgm:pt modelId="{63B1AE6B-C102-4C6C-8573-A70AEC0C6B14}" type="sibTrans" cxnId="{EEC47C86-F85A-4691-891B-02494F46F316}">
      <dgm:prSet/>
      <dgm:spPr/>
      <dgm:t>
        <a:bodyPr/>
        <a:lstStyle/>
        <a:p>
          <a:endParaRPr lang="fr-FR"/>
        </a:p>
      </dgm:t>
    </dgm:pt>
    <dgm:pt modelId="{4B9C165A-CA9C-4061-AA89-2A1B487A10FE}" type="pres">
      <dgm:prSet presAssocID="{36293B4A-D500-4647-8592-3B13D4C46D31}" presName="Name0" presStyleCnt="0">
        <dgm:presLayoutVars>
          <dgm:chMax val="7"/>
          <dgm:chPref val="7"/>
          <dgm:dir/>
        </dgm:presLayoutVars>
      </dgm:prSet>
      <dgm:spPr/>
    </dgm:pt>
    <dgm:pt modelId="{2C3884D8-82DB-4A41-9985-D6FB74D4F3A7}" type="pres">
      <dgm:prSet presAssocID="{36293B4A-D500-4647-8592-3B13D4C46D31}" presName="Name1" presStyleCnt="0"/>
      <dgm:spPr/>
    </dgm:pt>
    <dgm:pt modelId="{29334DDD-89F4-4DA3-A446-18A48EB5ED6A}" type="pres">
      <dgm:prSet presAssocID="{36293B4A-D500-4647-8592-3B13D4C46D31}" presName="cycle" presStyleCnt="0"/>
      <dgm:spPr/>
    </dgm:pt>
    <dgm:pt modelId="{F7147647-F8D7-4437-83A7-4C8010318CB3}" type="pres">
      <dgm:prSet presAssocID="{36293B4A-D500-4647-8592-3B13D4C46D31}" presName="srcNode" presStyleLbl="node1" presStyleIdx="0" presStyleCnt="4"/>
      <dgm:spPr/>
    </dgm:pt>
    <dgm:pt modelId="{8EC3EF9D-62C8-4991-AA96-3BEFD628C299}" type="pres">
      <dgm:prSet presAssocID="{36293B4A-D500-4647-8592-3B13D4C46D31}" presName="conn" presStyleLbl="parChTrans1D2" presStyleIdx="0" presStyleCnt="1"/>
      <dgm:spPr/>
    </dgm:pt>
    <dgm:pt modelId="{1AD329A0-188C-41BE-A43E-1350F2EAE622}" type="pres">
      <dgm:prSet presAssocID="{36293B4A-D500-4647-8592-3B13D4C46D31}" presName="extraNode" presStyleLbl="node1" presStyleIdx="0" presStyleCnt="4"/>
      <dgm:spPr/>
    </dgm:pt>
    <dgm:pt modelId="{85D5F882-5B4E-4BCE-A875-E15BDF658025}" type="pres">
      <dgm:prSet presAssocID="{36293B4A-D500-4647-8592-3B13D4C46D31}" presName="dstNode" presStyleLbl="node1" presStyleIdx="0" presStyleCnt="4"/>
      <dgm:spPr/>
    </dgm:pt>
    <dgm:pt modelId="{3808DE5E-59C5-4981-9756-E95EE1D2727E}" type="pres">
      <dgm:prSet presAssocID="{216DCD0F-24A8-40DE-8002-7F3E07B06E6D}" presName="text_1" presStyleLbl="node1" presStyleIdx="0" presStyleCnt="4">
        <dgm:presLayoutVars>
          <dgm:bulletEnabled val="1"/>
        </dgm:presLayoutVars>
      </dgm:prSet>
      <dgm:spPr/>
    </dgm:pt>
    <dgm:pt modelId="{D55ECB39-27FB-4EFA-88EF-769CCBB271A2}" type="pres">
      <dgm:prSet presAssocID="{216DCD0F-24A8-40DE-8002-7F3E07B06E6D}" presName="accent_1" presStyleCnt="0"/>
      <dgm:spPr/>
    </dgm:pt>
    <dgm:pt modelId="{2FBCC5AA-9638-42E2-8E62-72CC0F838C41}" type="pres">
      <dgm:prSet presAssocID="{216DCD0F-24A8-40DE-8002-7F3E07B06E6D}" presName="accentRepeatNode" presStyleLbl="solidFgAcc1" presStyleIdx="0" presStyleCnt="4"/>
      <dgm:spPr/>
    </dgm:pt>
    <dgm:pt modelId="{09F260DD-C4B9-43C4-A046-CC80E0B599DC}" type="pres">
      <dgm:prSet presAssocID="{A55056F2-89F2-46EC-829A-3E572B348417}" presName="text_2" presStyleLbl="node1" presStyleIdx="1" presStyleCnt="4">
        <dgm:presLayoutVars>
          <dgm:bulletEnabled val="1"/>
        </dgm:presLayoutVars>
      </dgm:prSet>
      <dgm:spPr/>
    </dgm:pt>
    <dgm:pt modelId="{80CB4FF9-6920-4112-AB3C-631402911B9D}" type="pres">
      <dgm:prSet presAssocID="{A55056F2-89F2-46EC-829A-3E572B348417}" presName="accent_2" presStyleCnt="0"/>
      <dgm:spPr/>
    </dgm:pt>
    <dgm:pt modelId="{05EF56C8-B182-485B-8A05-FD155890B0F1}" type="pres">
      <dgm:prSet presAssocID="{A55056F2-89F2-46EC-829A-3E572B348417}" presName="accentRepeatNode" presStyleLbl="solidFgAcc1" presStyleIdx="1" presStyleCnt="4"/>
      <dgm:spPr/>
    </dgm:pt>
    <dgm:pt modelId="{772733BB-7514-4F2D-8D1B-49391C5E675E}" type="pres">
      <dgm:prSet presAssocID="{2E875368-B2FF-4DE7-820B-41DCFDC1B46D}" presName="text_3" presStyleLbl="node1" presStyleIdx="2" presStyleCnt="4">
        <dgm:presLayoutVars>
          <dgm:bulletEnabled val="1"/>
        </dgm:presLayoutVars>
      </dgm:prSet>
      <dgm:spPr/>
    </dgm:pt>
    <dgm:pt modelId="{033505EA-B800-4F84-8239-149EC2F53834}" type="pres">
      <dgm:prSet presAssocID="{2E875368-B2FF-4DE7-820B-41DCFDC1B46D}" presName="accent_3" presStyleCnt="0"/>
      <dgm:spPr/>
    </dgm:pt>
    <dgm:pt modelId="{181A2960-E052-44F3-83E6-DFC890FC7E5B}" type="pres">
      <dgm:prSet presAssocID="{2E875368-B2FF-4DE7-820B-41DCFDC1B46D}" presName="accentRepeatNode" presStyleLbl="solidFgAcc1" presStyleIdx="2" presStyleCnt="4"/>
      <dgm:spPr/>
    </dgm:pt>
    <dgm:pt modelId="{7F081DBD-A135-45BB-BC64-0D17ACC959F0}" type="pres">
      <dgm:prSet presAssocID="{C37D0BE5-FEFC-4103-829F-9C21599DA847}" presName="text_4" presStyleLbl="node1" presStyleIdx="3" presStyleCnt="4">
        <dgm:presLayoutVars>
          <dgm:bulletEnabled val="1"/>
        </dgm:presLayoutVars>
      </dgm:prSet>
      <dgm:spPr/>
    </dgm:pt>
    <dgm:pt modelId="{4B9B3269-8C77-4E63-B3F0-7CE75BCC2F63}" type="pres">
      <dgm:prSet presAssocID="{C37D0BE5-FEFC-4103-829F-9C21599DA847}" presName="accent_4" presStyleCnt="0"/>
      <dgm:spPr/>
    </dgm:pt>
    <dgm:pt modelId="{1B60D11C-243B-45B8-9C0C-99B7D3E9A3D9}" type="pres">
      <dgm:prSet presAssocID="{C37D0BE5-FEFC-4103-829F-9C21599DA847}" presName="accentRepeatNode" presStyleLbl="solidFgAcc1" presStyleIdx="3" presStyleCnt="4"/>
      <dgm:spPr/>
    </dgm:pt>
  </dgm:ptLst>
  <dgm:cxnLst>
    <dgm:cxn modelId="{D74F1705-B930-4ABB-96D2-CCE47872094F}" type="presOf" srcId="{C37D0BE5-FEFC-4103-829F-9C21599DA847}" destId="{7F081DBD-A135-45BB-BC64-0D17ACC959F0}" srcOrd="0" destOrd="0" presId="urn:microsoft.com/office/officeart/2008/layout/VerticalCurvedList"/>
    <dgm:cxn modelId="{91512A2A-A255-4889-8963-D6753936B869}" type="presOf" srcId="{2E875368-B2FF-4DE7-820B-41DCFDC1B46D}" destId="{772733BB-7514-4F2D-8D1B-49391C5E675E}" srcOrd="0" destOrd="0" presId="urn:microsoft.com/office/officeart/2008/layout/VerticalCurvedList"/>
    <dgm:cxn modelId="{7D6E703E-F9FE-48A9-AF32-B6D3B209FAC0}" type="presOf" srcId="{A55056F2-89F2-46EC-829A-3E572B348417}" destId="{09F260DD-C4B9-43C4-A046-CC80E0B599DC}" srcOrd="0" destOrd="0" presId="urn:microsoft.com/office/officeart/2008/layout/VerticalCurvedList"/>
    <dgm:cxn modelId="{C5B5A962-983D-463C-A8D6-8E524C7E2592}" type="presOf" srcId="{1689682C-0D93-45C7-B78C-A3D32AFD51E8}" destId="{8EC3EF9D-62C8-4991-AA96-3BEFD628C299}" srcOrd="0" destOrd="0" presId="urn:microsoft.com/office/officeart/2008/layout/VerticalCurvedList"/>
    <dgm:cxn modelId="{FE222D4C-E827-44B2-BFFB-398BBCEB23A7}" type="presOf" srcId="{216DCD0F-24A8-40DE-8002-7F3E07B06E6D}" destId="{3808DE5E-59C5-4981-9756-E95EE1D2727E}" srcOrd="0" destOrd="0" presId="urn:microsoft.com/office/officeart/2008/layout/VerticalCurvedList"/>
    <dgm:cxn modelId="{BDDDB159-B093-4DB5-AF01-6EF03095F561}" srcId="{36293B4A-D500-4647-8592-3B13D4C46D31}" destId="{2E875368-B2FF-4DE7-820B-41DCFDC1B46D}" srcOrd="2" destOrd="0" parTransId="{B9EF7E0B-0DB9-4479-91EC-1E3198675D97}" sibTransId="{55093111-245E-462B-884B-44DF07F153AF}"/>
    <dgm:cxn modelId="{EEC47C86-F85A-4691-891B-02494F46F316}" srcId="{36293B4A-D500-4647-8592-3B13D4C46D31}" destId="{C37D0BE5-FEFC-4103-829F-9C21599DA847}" srcOrd="3" destOrd="0" parTransId="{457E156C-348A-4ACB-9811-C8AA15C80488}" sibTransId="{63B1AE6B-C102-4C6C-8573-A70AEC0C6B14}"/>
    <dgm:cxn modelId="{70DBF9CE-F0EF-41EB-A483-E55E25C2B77A}" srcId="{36293B4A-D500-4647-8592-3B13D4C46D31}" destId="{216DCD0F-24A8-40DE-8002-7F3E07B06E6D}" srcOrd="0" destOrd="0" parTransId="{E0E74778-F586-4A0D-A834-56BB168E3A71}" sibTransId="{1689682C-0D93-45C7-B78C-A3D32AFD51E8}"/>
    <dgm:cxn modelId="{067F70DD-A632-4190-B621-209F3FC7F9BC}" type="presOf" srcId="{36293B4A-D500-4647-8592-3B13D4C46D31}" destId="{4B9C165A-CA9C-4061-AA89-2A1B487A10FE}" srcOrd="0" destOrd="0" presId="urn:microsoft.com/office/officeart/2008/layout/VerticalCurvedList"/>
    <dgm:cxn modelId="{EC1B77EF-83E6-451E-BC72-CA7C47126EC0}" srcId="{36293B4A-D500-4647-8592-3B13D4C46D31}" destId="{A55056F2-89F2-46EC-829A-3E572B348417}" srcOrd="1" destOrd="0" parTransId="{CB8632A2-94EE-49B1-B6D3-E216F260D4C2}" sibTransId="{855AE124-B2CA-4CA3-96DA-A22194DC58C6}"/>
    <dgm:cxn modelId="{9784737B-ED2C-4A1B-BFBB-757AE30FAAC8}" type="presParOf" srcId="{4B9C165A-CA9C-4061-AA89-2A1B487A10FE}" destId="{2C3884D8-82DB-4A41-9985-D6FB74D4F3A7}" srcOrd="0" destOrd="0" presId="urn:microsoft.com/office/officeart/2008/layout/VerticalCurvedList"/>
    <dgm:cxn modelId="{3C4F28CA-4D2E-4C1B-A714-2EA3B2A81028}" type="presParOf" srcId="{2C3884D8-82DB-4A41-9985-D6FB74D4F3A7}" destId="{29334DDD-89F4-4DA3-A446-18A48EB5ED6A}" srcOrd="0" destOrd="0" presId="urn:microsoft.com/office/officeart/2008/layout/VerticalCurvedList"/>
    <dgm:cxn modelId="{69843E06-FB08-4ABB-AB48-02BDA8372F04}" type="presParOf" srcId="{29334DDD-89F4-4DA3-A446-18A48EB5ED6A}" destId="{F7147647-F8D7-4437-83A7-4C8010318CB3}" srcOrd="0" destOrd="0" presId="urn:microsoft.com/office/officeart/2008/layout/VerticalCurvedList"/>
    <dgm:cxn modelId="{F8CE5EBF-D302-43C6-99FA-50CB3662EFA2}" type="presParOf" srcId="{29334DDD-89F4-4DA3-A446-18A48EB5ED6A}" destId="{8EC3EF9D-62C8-4991-AA96-3BEFD628C299}" srcOrd="1" destOrd="0" presId="urn:microsoft.com/office/officeart/2008/layout/VerticalCurvedList"/>
    <dgm:cxn modelId="{205F9C71-365E-4F5F-9365-0676DF43616A}" type="presParOf" srcId="{29334DDD-89F4-4DA3-A446-18A48EB5ED6A}" destId="{1AD329A0-188C-41BE-A43E-1350F2EAE622}" srcOrd="2" destOrd="0" presId="urn:microsoft.com/office/officeart/2008/layout/VerticalCurvedList"/>
    <dgm:cxn modelId="{141E0979-EA48-403A-834B-400E4DE1D7CA}" type="presParOf" srcId="{29334DDD-89F4-4DA3-A446-18A48EB5ED6A}" destId="{85D5F882-5B4E-4BCE-A875-E15BDF658025}" srcOrd="3" destOrd="0" presId="urn:microsoft.com/office/officeart/2008/layout/VerticalCurvedList"/>
    <dgm:cxn modelId="{80380AB7-1534-4F98-A6C4-9FEBC69C6F7B}" type="presParOf" srcId="{2C3884D8-82DB-4A41-9985-D6FB74D4F3A7}" destId="{3808DE5E-59C5-4981-9756-E95EE1D2727E}" srcOrd="1" destOrd="0" presId="urn:microsoft.com/office/officeart/2008/layout/VerticalCurvedList"/>
    <dgm:cxn modelId="{C0E24D23-DB2D-4E18-9BBC-7EE1A31060D8}" type="presParOf" srcId="{2C3884D8-82DB-4A41-9985-D6FB74D4F3A7}" destId="{D55ECB39-27FB-4EFA-88EF-769CCBB271A2}" srcOrd="2" destOrd="0" presId="urn:microsoft.com/office/officeart/2008/layout/VerticalCurvedList"/>
    <dgm:cxn modelId="{5571CE7C-1587-499E-AFCB-1487CB49853A}" type="presParOf" srcId="{D55ECB39-27FB-4EFA-88EF-769CCBB271A2}" destId="{2FBCC5AA-9638-42E2-8E62-72CC0F838C41}" srcOrd="0" destOrd="0" presId="urn:microsoft.com/office/officeart/2008/layout/VerticalCurvedList"/>
    <dgm:cxn modelId="{B0E8FAF0-FA92-44A3-AF75-4C3703A0BE38}" type="presParOf" srcId="{2C3884D8-82DB-4A41-9985-D6FB74D4F3A7}" destId="{09F260DD-C4B9-43C4-A046-CC80E0B599DC}" srcOrd="3" destOrd="0" presId="urn:microsoft.com/office/officeart/2008/layout/VerticalCurvedList"/>
    <dgm:cxn modelId="{005FD70C-9517-438D-8909-992B7BAEB47D}" type="presParOf" srcId="{2C3884D8-82DB-4A41-9985-D6FB74D4F3A7}" destId="{80CB4FF9-6920-4112-AB3C-631402911B9D}" srcOrd="4" destOrd="0" presId="urn:microsoft.com/office/officeart/2008/layout/VerticalCurvedList"/>
    <dgm:cxn modelId="{AEBDDB9F-7BB2-4DD3-B3E5-81F349C59F0C}" type="presParOf" srcId="{80CB4FF9-6920-4112-AB3C-631402911B9D}" destId="{05EF56C8-B182-485B-8A05-FD155890B0F1}" srcOrd="0" destOrd="0" presId="urn:microsoft.com/office/officeart/2008/layout/VerticalCurvedList"/>
    <dgm:cxn modelId="{F9C0E71A-0AE6-4453-9C97-613F04150065}" type="presParOf" srcId="{2C3884D8-82DB-4A41-9985-D6FB74D4F3A7}" destId="{772733BB-7514-4F2D-8D1B-49391C5E675E}" srcOrd="5" destOrd="0" presId="urn:microsoft.com/office/officeart/2008/layout/VerticalCurvedList"/>
    <dgm:cxn modelId="{57AAFBFF-A461-4466-AF20-96D6E87A2D33}" type="presParOf" srcId="{2C3884D8-82DB-4A41-9985-D6FB74D4F3A7}" destId="{033505EA-B800-4F84-8239-149EC2F53834}" srcOrd="6" destOrd="0" presId="urn:microsoft.com/office/officeart/2008/layout/VerticalCurvedList"/>
    <dgm:cxn modelId="{00768FEC-20E7-498B-A99B-CE6230478F47}" type="presParOf" srcId="{033505EA-B800-4F84-8239-149EC2F53834}" destId="{181A2960-E052-44F3-83E6-DFC890FC7E5B}" srcOrd="0" destOrd="0" presId="urn:microsoft.com/office/officeart/2008/layout/VerticalCurvedList"/>
    <dgm:cxn modelId="{80B2F62A-CB2C-4C9C-9B86-9E8020563964}" type="presParOf" srcId="{2C3884D8-82DB-4A41-9985-D6FB74D4F3A7}" destId="{7F081DBD-A135-45BB-BC64-0D17ACC959F0}" srcOrd="7" destOrd="0" presId="urn:microsoft.com/office/officeart/2008/layout/VerticalCurvedList"/>
    <dgm:cxn modelId="{21ACEC46-8E2F-42AC-961F-C24FA4620CCD}" type="presParOf" srcId="{2C3884D8-82DB-4A41-9985-D6FB74D4F3A7}" destId="{4B9B3269-8C77-4E63-B3F0-7CE75BCC2F63}" srcOrd="8" destOrd="0" presId="urn:microsoft.com/office/officeart/2008/layout/VerticalCurvedList"/>
    <dgm:cxn modelId="{80BF86F3-9A2C-43A2-91C6-7311A917B67A}" type="presParOf" srcId="{4B9B3269-8C77-4E63-B3F0-7CE75BCC2F63}" destId="{1B60D11C-243B-45B8-9C0C-99B7D3E9A3D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548821-D23B-4DDD-86F0-324D25AAFAA3}" type="doc">
      <dgm:prSet loTypeId="urn:microsoft.com/office/officeart/2005/8/layout/hList6" loCatId="list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E2B2DE71-B6A2-4F89-B3BD-060D8198FD0E}">
      <dgm:prSet phldrT="[Texte]" custT="1"/>
      <dgm:spPr>
        <a:solidFill>
          <a:srgbClr val="CC0000"/>
        </a:solidFill>
        <a:ln>
          <a:noFill/>
        </a:ln>
      </dgm:spPr>
      <dgm:t>
        <a:bodyPr anchor="ctr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fr-MA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PAYS D’ORIGINE</a:t>
          </a:r>
          <a:endParaRPr lang="en-US" sz="3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39CD7CD-B8FD-447C-8377-85E3F8F8B191}" type="parTrans" cxnId="{EB95F58B-C008-4877-B33D-86648EFA586F}">
      <dgm:prSet/>
      <dgm:spPr/>
      <dgm:t>
        <a:bodyPr/>
        <a:lstStyle/>
        <a:p>
          <a:endParaRPr lang="en-US"/>
        </a:p>
      </dgm:t>
    </dgm:pt>
    <dgm:pt modelId="{F7FA1EDF-D15F-4F4B-926D-6287364829D2}" type="sibTrans" cxnId="{EB95F58B-C008-4877-B33D-86648EFA586F}">
      <dgm:prSet/>
      <dgm:spPr/>
      <dgm:t>
        <a:bodyPr/>
        <a:lstStyle/>
        <a:p>
          <a:endParaRPr lang="en-US"/>
        </a:p>
      </dgm:t>
    </dgm:pt>
    <dgm:pt modelId="{FFD2435F-7ADD-4F96-BEB5-AA0375B258EB}">
      <dgm:prSet phldrT="[Texte]"/>
      <dgm:spPr>
        <a:solidFill>
          <a:srgbClr val="CC0000"/>
        </a:solidFill>
        <a:ln>
          <a:noFill/>
        </a:ln>
      </dgm:spPr>
      <dgm:t>
        <a:bodyPr anchor="ctr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fr-FR" sz="19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Emballage et vérification</a:t>
          </a:r>
          <a:endParaRPr lang="en-US" sz="19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FACDCDF-6B4D-4945-AD86-9B39BB62230C}" type="parTrans" cxnId="{9FAF2DA5-60A0-45B4-A69B-F4B8DB5FE5D8}">
      <dgm:prSet/>
      <dgm:spPr/>
      <dgm:t>
        <a:bodyPr/>
        <a:lstStyle/>
        <a:p>
          <a:endParaRPr lang="en-US"/>
        </a:p>
      </dgm:t>
    </dgm:pt>
    <dgm:pt modelId="{27B48D94-B8CF-4A74-BD9F-50CDDB06B14B}" type="sibTrans" cxnId="{9FAF2DA5-60A0-45B4-A69B-F4B8DB5FE5D8}">
      <dgm:prSet/>
      <dgm:spPr/>
      <dgm:t>
        <a:bodyPr/>
        <a:lstStyle/>
        <a:p>
          <a:endParaRPr lang="en-US"/>
        </a:p>
      </dgm:t>
    </dgm:pt>
    <dgm:pt modelId="{ECF196EF-E51F-4F1B-8924-83F5814DDCED}">
      <dgm:prSet phldrT="[Texte]" custT="1"/>
      <dgm:spPr>
        <a:solidFill>
          <a:srgbClr val="006600"/>
        </a:solidFill>
      </dgm:spPr>
      <dgm:t>
        <a:bodyPr anchor="ctr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fr-MA" sz="2400" b="1" cap="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International</a:t>
          </a:r>
          <a:endParaRPr lang="en-US" sz="2400" b="1" cap="all" baseline="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B06FFBA-15A1-4C48-AB1F-71B4F4091693}" type="parTrans" cxnId="{905CBD3A-7879-4284-ACF8-A4D4160FD932}">
      <dgm:prSet/>
      <dgm:spPr/>
      <dgm:t>
        <a:bodyPr/>
        <a:lstStyle/>
        <a:p>
          <a:endParaRPr lang="en-US"/>
        </a:p>
      </dgm:t>
    </dgm:pt>
    <dgm:pt modelId="{68D435CE-A975-473E-B6E0-5B484121CABF}" type="sibTrans" cxnId="{905CBD3A-7879-4284-ACF8-A4D4160FD932}">
      <dgm:prSet/>
      <dgm:spPr/>
      <dgm:t>
        <a:bodyPr/>
        <a:lstStyle/>
        <a:p>
          <a:endParaRPr lang="en-US"/>
        </a:p>
      </dgm:t>
    </dgm:pt>
    <dgm:pt modelId="{4CAC14BF-CB12-4442-A81B-59EE38D3C54C}">
      <dgm:prSet phldrT="[Texte]" custT="1"/>
      <dgm:spPr>
        <a:solidFill>
          <a:srgbClr val="006600"/>
        </a:solidFill>
      </dgm:spPr>
      <dgm:t>
        <a:bodyPr anchor="ctr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fr-FR" sz="18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Transport principal</a:t>
          </a:r>
          <a:endParaRPr lang="en-US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18D115E-6349-4AF8-8736-969119DAFBED}" type="parTrans" cxnId="{F15DAA01-9F23-407F-AEB6-BFD3D9B8E17B}">
      <dgm:prSet/>
      <dgm:spPr/>
      <dgm:t>
        <a:bodyPr/>
        <a:lstStyle/>
        <a:p>
          <a:endParaRPr lang="en-US"/>
        </a:p>
      </dgm:t>
    </dgm:pt>
    <dgm:pt modelId="{2B6FBBC1-8E4E-48C4-B650-B3BC53AAD9C3}" type="sibTrans" cxnId="{F15DAA01-9F23-407F-AEB6-BFD3D9B8E17B}">
      <dgm:prSet/>
      <dgm:spPr/>
      <dgm:t>
        <a:bodyPr/>
        <a:lstStyle/>
        <a:p>
          <a:endParaRPr lang="en-US"/>
        </a:p>
      </dgm:t>
    </dgm:pt>
    <dgm:pt modelId="{BCF2F02D-1314-4AEB-8C31-448B2F281630}">
      <dgm:prSet phldrT="[Texte]" custT="1"/>
      <dgm:spPr>
        <a:solidFill>
          <a:schemeClr val="tx1"/>
        </a:solidFill>
      </dgm:spPr>
      <dgm:t>
        <a:bodyPr anchor="ctr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fr-MA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PAYS DE DESTINATION</a:t>
          </a:r>
          <a:endParaRPr lang="en-US" sz="3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AEA90E9-78BA-4EF0-8BC0-02BE2760A3D3}" type="parTrans" cxnId="{76C90C40-4653-49DA-BF38-64D465A46877}">
      <dgm:prSet/>
      <dgm:spPr/>
      <dgm:t>
        <a:bodyPr/>
        <a:lstStyle/>
        <a:p>
          <a:endParaRPr lang="en-US"/>
        </a:p>
      </dgm:t>
    </dgm:pt>
    <dgm:pt modelId="{9711AC5A-A57C-464B-A2BA-53FA72B7B217}" type="sibTrans" cxnId="{76C90C40-4653-49DA-BF38-64D465A46877}">
      <dgm:prSet/>
      <dgm:spPr/>
      <dgm:t>
        <a:bodyPr/>
        <a:lstStyle/>
        <a:p>
          <a:endParaRPr lang="en-US"/>
        </a:p>
      </dgm:t>
    </dgm:pt>
    <dgm:pt modelId="{4B13F721-953B-4064-B172-CBC2E7EBB435}">
      <dgm:prSet phldrT="[Texte]"/>
      <dgm:spPr>
        <a:solidFill>
          <a:schemeClr val="tx1"/>
        </a:solidFill>
      </dgm:spPr>
      <dgm:t>
        <a:bodyPr anchor="ctr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fr-FR" sz="19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Coûts de terminal</a:t>
          </a:r>
          <a:r>
            <a:rPr lang="fr-FR" sz="1900" b="1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à la destination</a:t>
          </a:r>
          <a:endParaRPr lang="en-US" sz="19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B01FAB0-E97C-4917-86D2-824DC738D2ED}" type="parTrans" cxnId="{155F55DA-A4AB-4FDF-BC0B-88F9B1BB72AD}">
      <dgm:prSet/>
      <dgm:spPr/>
      <dgm:t>
        <a:bodyPr/>
        <a:lstStyle/>
        <a:p>
          <a:endParaRPr lang="en-US"/>
        </a:p>
      </dgm:t>
    </dgm:pt>
    <dgm:pt modelId="{31AF6490-994D-4695-8B93-12C0195D9FB6}" type="sibTrans" cxnId="{155F55DA-A4AB-4FDF-BC0B-88F9B1BB72AD}">
      <dgm:prSet/>
      <dgm:spPr/>
      <dgm:t>
        <a:bodyPr/>
        <a:lstStyle/>
        <a:p>
          <a:endParaRPr lang="en-US"/>
        </a:p>
      </dgm:t>
    </dgm:pt>
    <dgm:pt modelId="{868F580F-3FBC-403F-B485-5D38CC26522E}">
      <dgm:prSet/>
      <dgm:spPr>
        <a:solidFill>
          <a:srgbClr val="CC0000"/>
        </a:solidFill>
        <a:ln>
          <a:noFill/>
        </a:ln>
      </dgm:spPr>
      <dgm:t>
        <a:bodyPr anchor="ctr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fr-FR" sz="19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Chargement dans les installations du vendeur</a:t>
          </a:r>
        </a:p>
      </dgm:t>
    </dgm:pt>
    <dgm:pt modelId="{6B74734B-B47F-435C-8C2E-A6B1A6E2F522}" type="parTrans" cxnId="{10D452C3-74FC-4C7C-9B12-5A4C98E7F738}">
      <dgm:prSet/>
      <dgm:spPr/>
      <dgm:t>
        <a:bodyPr/>
        <a:lstStyle/>
        <a:p>
          <a:endParaRPr lang="en-US"/>
        </a:p>
      </dgm:t>
    </dgm:pt>
    <dgm:pt modelId="{746AB8AE-3065-4D5B-89D9-8FF0AECE1D6F}" type="sibTrans" cxnId="{10D452C3-74FC-4C7C-9B12-5A4C98E7F738}">
      <dgm:prSet/>
      <dgm:spPr/>
      <dgm:t>
        <a:bodyPr/>
        <a:lstStyle/>
        <a:p>
          <a:endParaRPr lang="en-US"/>
        </a:p>
      </dgm:t>
    </dgm:pt>
    <dgm:pt modelId="{813420A7-8746-46D5-B1CF-FE5EC2DA7C9B}">
      <dgm:prSet/>
      <dgm:spPr>
        <a:solidFill>
          <a:srgbClr val="CC0000"/>
        </a:solidFill>
        <a:ln>
          <a:noFill/>
        </a:ln>
      </dgm:spPr>
      <dgm:t>
        <a:bodyPr anchor="ctr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fr-FR" sz="19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Transport intérieur à l’origine (Préacheminement)</a:t>
          </a:r>
        </a:p>
      </dgm:t>
    </dgm:pt>
    <dgm:pt modelId="{6817AF5D-69CB-48F7-B1DF-762BD12AFE71}" type="parTrans" cxnId="{490B6769-3F83-4552-A3D2-6C337E136B77}">
      <dgm:prSet/>
      <dgm:spPr/>
      <dgm:t>
        <a:bodyPr/>
        <a:lstStyle/>
        <a:p>
          <a:endParaRPr lang="en-US"/>
        </a:p>
      </dgm:t>
    </dgm:pt>
    <dgm:pt modelId="{9503B9DF-55D4-4687-B491-84BBE5501519}" type="sibTrans" cxnId="{490B6769-3F83-4552-A3D2-6C337E136B77}">
      <dgm:prSet/>
      <dgm:spPr/>
      <dgm:t>
        <a:bodyPr/>
        <a:lstStyle/>
        <a:p>
          <a:endParaRPr lang="en-US"/>
        </a:p>
      </dgm:t>
    </dgm:pt>
    <dgm:pt modelId="{40C32975-DBCE-4760-BD84-BDBFEADDCB3C}">
      <dgm:prSet/>
      <dgm:spPr>
        <a:solidFill>
          <a:srgbClr val="CC0000"/>
        </a:solidFill>
        <a:ln>
          <a:noFill/>
        </a:ln>
      </dgm:spPr>
      <dgm:t>
        <a:bodyPr anchor="ctr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fr-FR" sz="19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Démarches</a:t>
          </a:r>
          <a:r>
            <a:rPr lang="fr-FR" sz="1900" b="1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de douane d’exportation</a:t>
          </a:r>
        </a:p>
      </dgm:t>
    </dgm:pt>
    <dgm:pt modelId="{BA7FF3F0-7811-4E9D-BD02-67BA732FAC89}" type="parTrans" cxnId="{55B751C7-809C-471F-A1B9-7319C9A4EEC8}">
      <dgm:prSet/>
      <dgm:spPr/>
      <dgm:t>
        <a:bodyPr/>
        <a:lstStyle/>
        <a:p>
          <a:endParaRPr lang="en-US"/>
        </a:p>
      </dgm:t>
    </dgm:pt>
    <dgm:pt modelId="{313C96DE-5B21-46E9-8457-2D96E8798BC9}" type="sibTrans" cxnId="{55B751C7-809C-471F-A1B9-7319C9A4EEC8}">
      <dgm:prSet/>
      <dgm:spPr/>
      <dgm:t>
        <a:bodyPr/>
        <a:lstStyle/>
        <a:p>
          <a:endParaRPr lang="en-US"/>
        </a:p>
      </dgm:t>
    </dgm:pt>
    <dgm:pt modelId="{3454B9C9-47BC-47D1-9DF5-A69D5035479E}">
      <dgm:prSet/>
      <dgm:spPr>
        <a:solidFill>
          <a:srgbClr val="CC0000"/>
        </a:solidFill>
        <a:ln>
          <a:noFill/>
        </a:ln>
      </dgm:spPr>
      <dgm:t>
        <a:bodyPr anchor="ctr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fr-FR" sz="1900" b="1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Coûts de terminal à l’origine</a:t>
          </a:r>
          <a:endParaRPr lang="fr-FR" sz="1900" b="1" cap="small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0EA7E3A-8FE1-4D83-8ADB-F16ED30B344D}" type="parTrans" cxnId="{A9BD999E-9C80-4312-A5D2-65B00AA15AC8}">
      <dgm:prSet/>
      <dgm:spPr/>
      <dgm:t>
        <a:bodyPr/>
        <a:lstStyle/>
        <a:p>
          <a:endParaRPr lang="en-US"/>
        </a:p>
      </dgm:t>
    </dgm:pt>
    <dgm:pt modelId="{3924E500-8175-4AF1-9112-7371B1C737E6}" type="sibTrans" cxnId="{A9BD999E-9C80-4312-A5D2-65B00AA15AC8}">
      <dgm:prSet/>
      <dgm:spPr/>
      <dgm:t>
        <a:bodyPr/>
        <a:lstStyle/>
        <a:p>
          <a:endParaRPr lang="en-US"/>
        </a:p>
      </dgm:t>
    </dgm:pt>
    <dgm:pt modelId="{BEA7FDAD-A50A-44FB-AEE7-65E3E1F08080}">
      <dgm:prSet custT="1"/>
      <dgm:spPr>
        <a:solidFill>
          <a:srgbClr val="006600"/>
        </a:solidFill>
      </dgm:spPr>
      <dgm:t>
        <a:bodyPr anchor="ctr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fr-FR" sz="18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Assurance transport</a:t>
          </a:r>
          <a:r>
            <a:rPr lang="fr-FR" sz="1800" b="1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de la marchandise</a:t>
          </a:r>
          <a:endParaRPr lang="fr-FR" sz="1800" b="1" cap="small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FDFB23A-6654-4ACC-AEE9-FF5B010DAD44}" type="parTrans" cxnId="{AEE0208C-9DE2-4A12-ACF7-9588B093B78E}">
      <dgm:prSet/>
      <dgm:spPr/>
      <dgm:t>
        <a:bodyPr/>
        <a:lstStyle/>
        <a:p>
          <a:endParaRPr lang="en-US"/>
        </a:p>
      </dgm:t>
    </dgm:pt>
    <dgm:pt modelId="{0348483F-6362-4211-AFF0-8F3572514C10}" type="sibTrans" cxnId="{AEE0208C-9DE2-4A12-ACF7-9588B093B78E}">
      <dgm:prSet/>
      <dgm:spPr/>
      <dgm:t>
        <a:bodyPr/>
        <a:lstStyle/>
        <a:p>
          <a:endParaRPr lang="en-US"/>
        </a:p>
      </dgm:t>
    </dgm:pt>
    <dgm:pt modelId="{BB4D0E9C-4F40-4FAA-98B5-A9D633213B07}">
      <dgm:prSet/>
      <dgm:spPr>
        <a:solidFill>
          <a:schemeClr val="tx1"/>
        </a:solidFill>
      </dgm:spPr>
      <dgm:t>
        <a:bodyPr anchor="ctr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fr-FR" sz="19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Démarches de douane d’importation</a:t>
          </a:r>
        </a:p>
      </dgm:t>
    </dgm:pt>
    <dgm:pt modelId="{8430221F-FE94-413E-BEC8-35D331399A76}" type="parTrans" cxnId="{FF13A91D-8451-4491-9154-81F5D531D96F}">
      <dgm:prSet/>
      <dgm:spPr/>
      <dgm:t>
        <a:bodyPr/>
        <a:lstStyle/>
        <a:p>
          <a:endParaRPr lang="en-US"/>
        </a:p>
      </dgm:t>
    </dgm:pt>
    <dgm:pt modelId="{0D43129F-ECA9-4683-AFE9-55A960E40D7D}" type="sibTrans" cxnId="{FF13A91D-8451-4491-9154-81F5D531D96F}">
      <dgm:prSet/>
      <dgm:spPr/>
      <dgm:t>
        <a:bodyPr/>
        <a:lstStyle/>
        <a:p>
          <a:endParaRPr lang="en-US"/>
        </a:p>
      </dgm:t>
    </dgm:pt>
    <dgm:pt modelId="{91D2779B-455B-4D16-B26F-333CEEB31D7F}">
      <dgm:prSet/>
      <dgm:spPr>
        <a:solidFill>
          <a:schemeClr val="tx1"/>
        </a:solidFill>
      </dgm:spPr>
      <dgm:t>
        <a:bodyPr anchor="ctr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fr-FR" sz="19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Transport</a:t>
          </a:r>
          <a:r>
            <a:rPr lang="fr-FR" sz="1900" b="1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intérieur à la destination (post-acheminement)</a:t>
          </a:r>
        </a:p>
      </dgm:t>
    </dgm:pt>
    <dgm:pt modelId="{020A26BE-0D7A-461C-AA34-875DC3333578}" type="parTrans" cxnId="{E62C40F4-6DC0-4070-BC8C-097AC07F5D39}">
      <dgm:prSet/>
      <dgm:spPr/>
      <dgm:t>
        <a:bodyPr/>
        <a:lstStyle/>
        <a:p>
          <a:endParaRPr lang="en-US"/>
        </a:p>
      </dgm:t>
    </dgm:pt>
    <dgm:pt modelId="{FA547ED9-AC3A-4842-ADD9-E4B0C4E86278}" type="sibTrans" cxnId="{E62C40F4-6DC0-4070-BC8C-097AC07F5D39}">
      <dgm:prSet/>
      <dgm:spPr/>
      <dgm:t>
        <a:bodyPr/>
        <a:lstStyle/>
        <a:p>
          <a:endParaRPr lang="en-US"/>
        </a:p>
      </dgm:t>
    </dgm:pt>
    <dgm:pt modelId="{278AC6EC-9AEF-42DB-A544-57FBD8D1BD76}">
      <dgm:prSet/>
      <dgm:spPr>
        <a:solidFill>
          <a:schemeClr val="tx1"/>
        </a:solidFill>
      </dgm:spPr>
      <dgm:t>
        <a:bodyPr anchor="ctr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fr-FR" sz="1900" b="1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Déchargement installations de l’acheteur</a:t>
          </a:r>
          <a:endParaRPr lang="fr-FR" sz="1900" b="1" cap="small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1A94048-F9B2-4ECB-AE23-56D63008B73F}" type="parTrans" cxnId="{6632C269-0968-4D27-9672-97C847342033}">
      <dgm:prSet/>
      <dgm:spPr/>
      <dgm:t>
        <a:bodyPr/>
        <a:lstStyle/>
        <a:p>
          <a:endParaRPr lang="en-US"/>
        </a:p>
      </dgm:t>
    </dgm:pt>
    <dgm:pt modelId="{00237E71-4920-487A-9A2F-EDFC8CA47512}" type="sibTrans" cxnId="{6632C269-0968-4D27-9672-97C847342033}">
      <dgm:prSet/>
      <dgm:spPr/>
      <dgm:t>
        <a:bodyPr/>
        <a:lstStyle/>
        <a:p>
          <a:endParaRPr lang="en-US"/>
        </a:p>
      </dgm:t>
    </dgm:pt>
    <dgm:pt modelId="{20615EB1-B942-47EC-B19D-8CDD734D10CB}" type="pres">
      <dgm:prSet presAssocID="{A1548821-D23B-4DDD-86F0-324D25AAFAA3}" presName="Name0" presStyleCnt="0">
        <dgm:presLayoutVars>
          <dgm:dir/>
          <dgm:resizeHandles val="exact"/>
        </dgm:presLayoutVars>
      </dgm:prSet>
      <dgm:spPr/>
    </dgm:pt>
    <dgm:pt modelId="{2F2B8CD4-7D33-4E95-9055-8E9027B553CB}" type="pres">
      <dgm:prSet presAssocID="{E2B2DE71-B6A2-4F89-B3BD-060D8198FD0E}" presName="node" presStyleLbl="node1" presStyleIdx="0" presStyleCnt="3">
        <dgm:presLayoutVars>
          <dgm:bulletEnabled val="1"/>
        </dgm:presLayoutVars>
      </dgm:prSet>
      <dgm:spPr/>
    </dgm:pt>
    <dgm:pt modelId="{5D7DB829-1EA9-46C6-9F90-02059343E4C3}" type="pres">
      <dgm:prSet presAssocID="{F7FA1EDF-D15F-4F4B-926D-6287364829D2}" presName="sibTrans" presStyleCnt="0"/>
      <dgm:spPr/>
    </dgm:pt>
    <dgm:pt modelId="{139D455F-A4D7-4C76-B1CE-6B3A0615D10C}" type="pres">
      <dgm:prSet presAssocID="{ECF196EF-E51F-4F1B-8924-83F5814DDCED}" presName="node" presStyleLbl="node1" presStyleIdx="1" presStyleCnt="3" custScaleX="71709">
        <dgm:presLayoutVars>
          <dgm:bulletEnabled val="1"/>
        </dgm:presLayoutVars>
      </dgm:prSet>
      <dgm:spPr/>
    </dgm:pt>
    <dgm:pt modelId="{0CB72DD6-5C78-459C-B81D-0B729ED78735}" type="pres">
      <dgm:prSet presAssocID="{68D435CE-A975-473E-B6E0-5B484121CABF}" presName="sibTrans" presStyleCnt="0"/>
      <dgm:spPr/>
    </dgm:pt>
    <dgm:pt modelId="{AF884444-2EA1-4DB2-93E9-4FAE2878AA3D}" type="pres">
      <dgm:prSet presAssocID="{BCF2F02D-1314-4AEB-8C31-448B2F281630}" presName="node" presStyleLbl="node1" presStyleIdx="2" presStyleCnt="3">
        <dgm:presLayoutVars>
          <dgm:bulletEnabled val="1"/>
        </dgm:presLayoutVars>
      </dgm:prSet>
      <dgm:spPr/>
    </dgm:pt>
  </dgm:ptLst>
  <dgm:cxnLst>
    <dgm:cxn modelId="{F15DAA01-9F23-407F-AEB6-BFD3D9B8E17B}" srcId="{ECF196EF-E51F-4F1B-8924-83F5814DDCED}" destId="{4CAC14BF-CB12-4442-A81B-59EE38D3C54C}" srcOrd="0" destOrd="0" parTransId="{C18D115E-6349-4AF8-8736-969119DAFBED}" sibTransId="{2B6FBBC1-8E4E-48C4-B650-B3BC53AAD9C3}"/>
    <dgm:cxn modelId="{8A94CF12-6248-40DF-9D05-A1F2811E9DC9}" type="presOf" srcId="{BB4D0E9C-4F40-4FAA-98B5-A9D633213B07}" destId="{AF884444-2EA1-4DB2-93E9-4FAE2878AA3D}" srcOrd="0" destOrd="2" presId="urn:microsoft.com/office/officeart/2005/8/layout/hList6"/>
    <dgm:cxn modelId="{FF13A91D-8451-4491-9154-81F5D531D96F}" srcId="{BCF2F02D-1314-4AEB-8C31-448B2F281630}" destId="{BB4D0E9C-4F40-4FAA-98B5-A9D633213B07}" srcOrd="1" destOrd="0" parTransId="{8430221F-FE94-413E-BEC8-35D331399A76}" sibTransId="{0D43129F-ECA9-4683-AFE9-55A960E40D7D}"/>
    <dgm:cxn modelId="{C31DE02A-AF78-46AC-8A0A-5E47B44491F6}" type="presOf" srcId="{91D2779B-455B-4D16-B26F-333CEEB31D7F}" destId="{AF884444-2EA1-4DB2-93E9-4FAE2878AA3D}" srcOrd="0" destOrd="3" presId="urn:microsoft.com/office/officeart/2005/8/layout/hList6"/>
    <dgm:cxn modelId="{905CBD3A-7879-4284-ACF8-A4D4160FD932}" srcId="{A1548821-D23B-4DDD-86F0-324D25AAFAA3}" destId="{ECF196EF-E51F-4F1B-8924-83F5814DDCED}" srcOrd="1" destOrd="0" parTransId="{FB06FFBA-15A1-4C48-AB1F-71B4F4091693}" sibTransId="{68D435CE-A975-473E-B6E0-5B484121CABF}"/>
    <dgm:cxn modelId="{1908613C-AF3B-4DCE-8AD5-1F5BAF43458D}" type="presOf" srcId="{278AC6EC-9AEF-42DB-A544-57FBD8D1BD76}" destId="{AF884444-2EA1-4DB2-93E9-4FAE2878AA3D}" srcOrd="0" destOrd="4" presId="urn:microsoft.com/office/officeart/2005/8/layout/hList6"/>
    <dgm:cxn modelId="{76C90C40-4653-49DA-BF38-64D465A46877}" srcId="{A1548821-D23B-4DDD-86F0-324D25AAFAA3}" destId="{BCF2F02D-1314-4AEB-8C31-448B2F281630}" srcOrd="2" destOrd="0" parTransId="{4AEA90E9-78BA-4EF0-8BC0-02BE2760A3D3}" sibTransId="{9711AC5A-A57C-464B-A2BA-53FA72B7B217}"/>
    <dgm:cxn modelId="{7E47AE45-F463-4F6A-B5DB-DEB1DB0089ED}" type="presOf" srcId="{E2B2DE71-B6A2-4F89-B3BD-060D8198FD0E}" destId="{2F2B8CD4-7D33-4E95-9055-8E9027B553CB}" srcOrd="0" destOrd="0" presId="urn:microsoft.com/office/officeart/2005/8/layout/hList6"/>
    <dgm:cxn modelId="{490B6769-3F83-4552-A3D2-6C337E136B77}" srcId="{E2B2DE71-B6A2-4F89-B3BD-060D8198FD0E}" destId="{813420A7-8746-46D5-B1CF-FE5EC2DA7C9B}" srcOrd="2" destOrd="0" parTransId="{6817AF5D-69CB-48F7-B1DF-762BD12AFE71}" sibTransId="{9503B9DF-55D4-4687-B491-84BBE5501519}"/>
    <dgm:cxn modelId="{6632C269-0968-4D27-9672-97C847342033}" srcId="{BCF2F02D-1314-4AEB-8C31-448B2F281630}" destId="{278AC6EC-9AEF-42DB-A544-57FBD8D1BD76}" srcOrd="3" destOrd="0" parTransId="{01A94048-F9B2-4ECB-AE23-56D63008B73F}" sibTransId="{00237E71-4920-487A-9A2F-EDFC8CA47512}"/>
    <dgm:cxn modelId="{EE42676A-D548-4AAB-9F32-4CEA0C1676A4}" type="presOf" srcId="{BCF2F02D-1314-4AEB-8C31-448B2F281630}" destId="{AF884444-2EA1-4DB2-93E9-4FAE2878AA3D}" srcOrd="0" destOrd="0" presId="urn:microsoft.com/office/officeart/2005/8/layout/hList6"/>
    <dgm:cxn modelId="{2B0F5255-F55D-49C8-BE57-4794B5EDF88D}" type="presOf" srcId="{4CAC14BF-CB12-4442-A81B-59EE38D3C54C}" destId="{139D455F-A4D7-4C76-B1CE-6B3A0615D10C}" srcOrd="0" destOrd="1" presId="urn:microsoft.com/office/officeart/2005/8/layout/hList6"/>
    <dgm:cxn modelId="{A5EED385-8BDD-4EE6-8796-5F2559476C9B}" type="presOf" srcId="{A1548821-D23B-4DDD-86F0-324D25AAFAA3}" destId="{20615EB1-B942-47EC-B19D-8CDD734D10CB}" srcOrd="0" destOrd="0" presId="urn:microsoft.com/office/officeart/2005/8/layout/hList6"/>
    <dgm:cxn modelId="{EB95F58B-C008-4877-B33D-86648EFA586F}" srcId="{A1548821-D23B-4DDD-86F0-324D25AAFAA3}" destId="{E2B2DE71-B6A2-4F89-B3BD-060D8198FD0E}" srcOrd="0" destOrd="0" parTransId="{639CD7CD-B8FD-447C-8377-85E3F8F8B191}" sibTransId="{F7FA1EDF-D15F-4F4B-926D-6287364829D2}"/>
    <dgm:cxn modelId="{AEE0208C-9DE2-4A12-ACF7-9588B093B78E}" srcId="{ECF196EF-E51F-4F1B-8924-83F5814DDCED}" destId="{BEA7FDAD-A50A-44FB-AEE7-65E3E1F08080}" srcOrd="1" destOrd="0" parTransId="{AFDFB23A-6654-4ACC-AEE9-FF5B010DAD44}" sibTransId="{0348483F-6362-4211-AFF0-8F3572514C10}"/>
    <dgm:cxn modelId="{A9BD999E-9C80-4312-A5D2-65B00AA15AC8}" srcId="{E2B2DE71-B6A2-4F89-B3BD-060D8198FD0E}" destId="{3454B9C9-47BC-47D1-9DF5-A69D5035479E}" srcOrd="4" destOrd="0" parTransId="{D0EA7E3A-8FE1-4D83-8ADB-F16ED30B344D}" sibTransId="{3924E500-8175-4AF1-9112-7371B1C737E6}"/>
    <dgm:cxn modelId="{9FAF2DA5-60A0-45B4-A69B-F4B8DB5FE5D8}" srcId="{E2B2DE71-B6A2-4F89-B3BD-060D8198FD0E}" destId="{FFD2435F-7ADD-4F96-BEB5-AA0375B258EB}" srcOrd="0" destOrd="0" parTransId="{3FACDCDF-6B4D-4945-AD86-9B39BB62230C}" sibTransId="{27B48D94-B8CF-4A74-BD9F-50CDDB06B14B}"/>
    <dgm:cxn modelId="{80EAC2A8-A7A4-4E60-81DA-41F088F14EA1}" type="presOf" srcId="{4B13F721-953B-4064-B172-CBC2E7EBB435}" destId="{AF884444-2EA1-4DB2-93E9-4FAE2878AA3D}" srcOrd="0" destOrd="1" presId="urn:microsoft.com/office/officeart/2005/8/layout/hList6"/>
    <dgm:cxn modelId="{8CB979B5-CD5C-458B-917A-F5A6C724F8CB}" type="presOf" srcId="{3454B9C9-47BC-47D1-9DF5-A69D5035479E}" destId="{2F2B8CD4-7D33-4E95-9055-8E9027B553CB}" srcOrd="0" destOrd="5" presId="urn:microsoft.com/office/officeart/2005/8/layout/hList6"/>
    <dgm:cxn modelId="{0C3CCFBB-5A11-4994-967A-383EE5284CF4}" type="presOf" srcId="{BEA7FDAD-A50A-44FB-AEE7-65E3E1F08080}" destId="{139D455F-A4D7-4C76-B1CE-6B3A0615D10C}" srcOrd="0" destOrd="2" presId="urn:microsoft.com/office/officeart/2005/8/layout/hList6"/>
    <dgm:cxn modelId="{10D452C3-74FC-4C7C-9B12-5A4C98E7F738}" srcId="{E2B2DE71-B6A2-4F89-B3BD-060D8198FD0E}" destId="{868F580F-3FBC-403F-B485-5D38CC26522E}" srcOrd="1" destOrd="0" parTransId="{6B74734B-B47F-435C-8C2E-A6B1A6E2F522}" sibTransId="{746AB8AE-3065-4D5B-89D9-8FF0AECE1D6F}"/>
    <dgm:cxn modelId="{55B751C7-809C-471F-A1B9-7319C9A4EEC8}" srcId="{E2B2DE71-B6A2-4F89-B3BD-060D8198FD0E}" destId="{40C32975-DBCE-4760-BD84-BDBFEADDCB3C}" srcOrd="3" destOrd="0" parTransId="{BA7FF3F0-7811-4E9D-BD02-67BA732FAC89}" sibTransId="{313C96DE-5B21-46E9-8457-2D96E8798BC9}"/>
    <dgm:cxn modelId="{965C63C9-332B-4D44-8B1A-DF7EB7D952F7}" type="presOf" srcId="{ECF196EF-E51F-4F1B-8924-83F5814DDCED}" destId="{139D455F-A4D7-4C76-B1CE-6B3A0615D10C}" srcOrd="0" destOrd="0" presId="urn:microsoft.com/office/officeart/2005/8/layout/hList6"/>
    <dgm:cxn modelId="{35FE9DCA-36B4-4BDA-AE31-675BA059D8E1}" type="presOf" srcId="{FFD2435F-7ADD-4F96-BEB5-AA0375B258EB}" destId="{2F2B8CD4-7D33-4E95-9055-8E9027B553CB}" srcOrd="0" destOrd="1" presId="urn:microsoft.com/office/officeart/2005/8/layout/hList6"/>
    <dgm:cxn modelId="{0D17A0D3-CA2A-4BF4-B948-CA8E1FC68C87}" type="presOf" srcId="{40C32975-DBCE-4760-BD84-BDBFEADDCB3C}" destId="{2F2B8CD4-7D33-4E95-9055-8E9027B553CB}" srcOrd="0" destOrd="4" presId="urn:microsoft.com/office/officeart/2005/8/layout/hList6"/>
    <dgm:cxn modelId="{35ABC2D7-3552-4487-BE27-B5CEA6BA38F4}" type="presOf" srcId="{868F580F-3FBC-403F-B485-5D38CC26522E}" destId="{2F2B8CD4-7D33-4E95-9055-8E9027B553CB}" srcOrd="0" destOrd="2" presId="urn:microsoft.com/office/officeart/2005/8/layout/hList6"/>
    <dgm:cxn modelId="{155F55DA-A4AB-4FDF-BC0B-88F9B1BB72AD}" srcId="{BCF2F02D-1314-4AEB-8C31-448B2F281630}" destId="{4B13F721-953B-4064-B172-CBC2E7EBB435}" srcOrd="0" destOrd="0" parTransId="{CB01FAB0-E97C-4917-86D2-824DC738D2ED}" sibTransId="{31AF6490-994D-4695-8B93-12C0195D9FB6}"/>
    <dgm:cxn modelId="{7BCA4AE8-6DF2-4894-A3ED-65BB0D29C551}" type="presOf" srcId="{813420A7-8746-46D5-B1CF-FE5EC2DA7C9B}" destId="{2F2B8CD4-7D33-4E95-9055-8E9027B553CB}" srcOrd="0" destOrd="3" presId="urn:microsoft.com/office/officeart/2005/8/layout/hList6"/>
    <dgm:cxn modelId="{E62C40F4-6DC0-4070-BC8C-097AC07F5D39}" srcId="{BCF2F02D-1314-4AEB-8C31-448B2F281630}" destId="{91D2779B-455B-4D16-B26F-333CEEB31D7F}" srcOrd="2" destOrd="0" parTransId="{020A26BE-0D7A-461C-AA34-875DC3333578}" sibTransId="{FA547ED9-AC3A-4842-ADD9-E4B0C4E86278}"/>
    <dgm:cxn modelId="{4E99528B-3FE5-45CA-9E83-922A3611E840}" type="presParOf" srcId="{20615EB1-B942-47EC-B19D-8CDD734D10CB}" destId="{2F2B8CD4-7D33-4E95-9055-8E9027B553CB}" srcOrd="0" destOrd="0" presId="urn:microsoft.com/office/officeart/2005/8/layout/hList6"/>
    <dgm:cxn modelId="{7D195FD1-C6E9-43A6-92AE-E45F73D3452C}" type="presParOf" srcId="{20615EB1-B942-47EC-B19D-8CDD734D10CB}" destId="{5D7DB829-1EA9-46C6-9F90-02059343E4C3}" srcOrd="1" destOrd="0" presId="urn:microsoft.com/office/officeart/2005/8/layout/hList6"/>
    <dgm:cxn modelId="{70F9E8D4-2D80-4C85-8E52-3B7891473427}" type="presParOf" srcId="{20615EB1-B942-47EC-B19D-8CDD734D10CB}" destId="{139D455F-A4D7-4C76-B1CE-6B3A0615D10C}" srcOrd="2" destOrd="0" presId="urn:microsoft.com/office/officeart/2005/8/layout/hList6"/>
    <dgm:cxn modelId="{7213B320-6B71-4AD8-AB28-B1759A9581C2}" type="presParOf" srcId="{20615EB1-B942-47EC-B19D-8CDD734D10CB}" destId="{0CB72DD6-5C78-459C-B81D-0B729ED78735}" srcOrd="3" destOrd="0" presId="urn:microsoft.com/office/officeart/2005/8/layout/hList6"/>
    <dgm:cxn modelId="{BF305E51-99D5-4974-A58A-5B3471FBAE0E}" type="presParOf" srcId="{20615EB1-B942-47EC-B19D-8CDD734D10CB}" destId="{AF884444-2EA1-4DB2-93E9-4FAE2878AA3D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3EF9D-62C8-4991-AA96-3BEFD628C299}">
      <dsp:nvSpPr>
        <dsp:cNvPr id="0" name=""/>
        <dsp:cNvSpPr/>
      </dsp:nvSpPr>
      <dsp:spPr>
        <a:xfrm>
          <a:off x="-6126981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08DE5E-59C5-4981-9756-E95EE1D2727E}">
      <dsp:nvSpPr>
        <dsp:cNvPr id="0" name=""/>
        <dsp:cNvSpPr/>
      </dsp:nvSpPr>
      <dsp:spPr>
        <a:xfrm>
          <a:off x="610504" y="416587"/>
          <a:ext cx="8359155" cy="833607"/>
        </a:xfrm>
        <a:prstGeom prst="rect">
          <a:avLst/>
        </a:prstGeom>
        <a:solidFill>
          <a:srgbClr val="000000"/>
        </a:solidFill>
        <a:ln w="15875" cap="rnd" cmpd="sng" algn="ctr">
          <a:noFill/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106680" rIns="106680" bIns="10668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200" b="1" kern="1200" cap="small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Famille E</a:t>
          </a:r>
        </a:p>
      </dsp:txBody>
      <dsp:txXfrm>
        <a:off x="610504" y="416587"/>
        <a:ext cx="8359155" cy="833607"/>
      </dsp:txXfrm>
    </dsp:sp>
    <dsp:sp modelId="{2FBCC5AA-9638-42E2-8E62-72CC0F838C41}">
      <dsp:nvSpPr>
        <dsp:cNvPr id="0" name=""/>
        <dsp:cNvSpPr/>
      </dsp:nvSpPr>
      <dsp:spPr>
        <a:xfrm>
          <a:off x="89500" y="312386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F260DD-C4B9-43C4-A046-CC80E0B599DC}">
      <dsp:nvSpPr>
        <dsp:cNvPr id="0" name=""/>
        <dsp:cNvSpPr/>
      </dsp:nvSpPr>
      <dsp:spPr>
        <a:xfrm>
          <a:off x="1088431" y="1667215"/>
          <a:ext cx="7881228" cy="833607"/>
        </a:xfrm>
        <a:prstGeom prst="rect">
          <a:avLst/>
        </a:prstGeom>
        <a:solidFill>
          <a:srgbClr val="663300"/>
        </a:solidFill>
        <a:ln w="15875" cap="rnd" cmpd="sng" algn="ctr">
          <a:noFill/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106680" rIns="106680" bIns="10668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200" b="1" kern="1200" cap="small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Famille F (Free)</a:t>
          </a:r>
        </a:p>
      </dsp:txBody>
      <dsp:txXfrm>
        <a:off x="1088431" y="1667215"/>
        <a:ext cx="7881228" cy="833607"/>
      </dsp:txXfrm>
    </dsp:sp>
    <dsp:sp modelId="{05EF56C8-B182-485B-8A05-FD155890B0F1}">
      <dsp:nvSpPr>
        <dsp:cNvPr id="0" name=""/>
        <dsp:cNvSpPr/>
      </dsp:nvSpPr>
      <dsp:spPr>
        <a:xfrm>
          <a:off x="567426" y="1563014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2733BB-7514-4F2D-8D1B-49391C5E675E}">
      <dsp:nvSpPr>
        <dsp:cNvPr id="0" name=""/>
        <dsp:cNvSpPr/>
      </dsp:nvSpPr>
      <dsp:spPr>
        <a:xfrm>
          <a:off x="1088431" y="2917843"/>
          <a:ext cx="7881228" cy="833607"/>
        </a:xfrm>
        <a:prstGeom prst="rect">
          <a:avLst/>
        </a:prstGeom>
        <a:solidFill>
          <a:srgbClr val="000099"/>
        </a:solidFill>
        <a:ln w="15875" cap="rnd" cmpd="sng" algn="ctr">
          <a:noFill/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106680" rIns="106680" bIns="10668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200" b="1" kern="1200" cap="small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Famille C (</a:t>
          </a:r>
          <a:r>
            <a:rPr lang="fr-FR" sz="4200" b="1" kern="1200" cap="small" baseline="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Cost</a:t>
          </a:r>
          <a:r>
            <a:rPr lang="fr-FR" sz="4200" b="1" kern="1200" cap="small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or </a:t>
          </a:r>
          <a:r>
            <a:rPr lang="fr-FR" sz="4200" b="1" kern="1200" cap="small" baseline="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carriage</a:t>
          </a:r>
          <a:r>
            <a:rPr lang="fr-FR" sz="4200" b="1" kern="1200" cap="small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</a:p>
      </dsp:txBody>
      <dsp:txXfrm>
        <a:off x="1088431" y="2917843"/>
        <a:ext cx="7881228" cy="833607"/>
      </dsp:txXfrm>
    </dsp:sp>
    <dsp:sp modelId="{181A2960-E052-44F3-83E6-DFC890FC7E5B}">
      <dsp:nvSpPr>
        <dsp:cNvPr id="0" name=""/>
        <dsp:cNvSpPr/>
      </dsp:nvSpPr>
      <dsp:spPr>
        <a:xfrm>
          <a:off x="567426" y="2813642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081DBD-A135-45BB-BC64-0D17ACC959F0}">
      <dsp:nvSpPr>
        <dsp:cNvPr id="0" name=""/>
        <dsp:cNvSpPr/>
      </dsp:nvSpPr>
      <dsp:spPr>
        <a:xfrm>
          <a:off x="610504" y="4168472"/>
          <a:ext cx="8359155" cy="833607"/>
        </a:xfrm>
        <a:prstGeom prst="rect">
          <a:avLst/>
        </a:prstGeom>
        <a:solidFill>
          <a:srgbClr val="336600"/>
        </a:solidFill>
        <a:ln w="15875" cap="rnd" cmpd="sng" algn="ctr">
          <a:noFill/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106680" rIns="106680" bIns="10668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200" b="1" kern="1200" cap="small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Famille D (</a:t>
          </a:r>
          <a:r>
            <a:rPr lang="fr-FR" sz="4200" b="1" kern="1200" cap="small" baseline="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Delivred</a:t>
          </a:r>
          <a:r>
            <a:rPr lang="fr-FR" sz="4200" b="1" kern="1200" cap="small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</a:p>
      </dsp:txBody>
      <dsp:txXfrm>
        <a:off x="610504" y="4168472"/>
        <a:ext cx="8359155" cy="833607"/>
      </dsp:txXfrm>
    </dsp:sp>
    <dsp:sp modelId="{1B60D11C-243B-45B8-9C0C-99B7D3E9A3D9}">
      <dsp:nvSpPr>
        <dsp:cNvPr id="0" name=""/>
        <dsp:cNvSpPr/>
      </dsp:nvSpPr>
      <dsp:spPr>
        <a:xfrm>
          <a:off x="89500" y="4064271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B8CD4-7D33-4E95-9055-8E9027B553CB}">
      <dsp:nvSpPr>
        <dsp:cNvPr id="0" name=""/>
        <dsp:cNvSpPr/>
      </dsp:nvSpPr>
      <dsp:spPr>
        <a:xfrm rot="16200000">
          <a:off x="-324973" y="327533"/>
          <a:ext cx="4726628" cy="4071561"/>
        </a:xfrm>
        <a:prstGeom prst="flowChartManualOperation">
          <a:avLst/>
        </a:prstGeom>
        <a:solidFill>
          <a:srgbClr val="CC0000"/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3200" bIns="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fr-MA" sz="3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PAYS D’ORIGINE</a:t>
          </a:r>
          <a:endParaRPr lang="en-US" sz="3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84455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fr-FR" sz="1900" b="1" kern="1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Emballage et vérification</a:t>
          </a:r>
          <a:endParaRPr lang="en-US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84455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fr-FR" sz="1900" b="1" kern="1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Chargement dans les installations du vendeur</a:t>
          </a:r>
        </a:p>
        <a:p>
          <a:pPr marL="171450" lvl="1" indent="-171450" algn="l" defTabSz="84455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fr-FR" sz="1900" b="1" kern="1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Transport intérieur à l’origine (Préacheminement)</a:t>
          </a:r>
        </a:p>
        <a:p>
          <a:pPr marL="171450" lvl="1" indent="-171450" algn="l" defTabSz="84455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fr-FR" sz="1900" b="1" kern="1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Démarches</a:t>
          </a:r>
          <a:r>
            <a:rPr lang="fr-FR" sz="1900" b="1" kern="1200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de douane d’exportation</a:t>
          </a:r>
        </a:p>
        <a:p>
          <a:pPr marL="171450" lvl="1" indent="-171450" algn="l" defTabSz="84455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fr-FR" sz="1900" b="1" kern="1200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Coûts de terminal à l’origine</a:t>
          </a:r>
          <a:endParaRPr lang="fr-FR" sz="1900" b="1" kern="1200" cap="small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2561" y="945325"/>
        <a:ext cx="4071561" cy="2835976"/>
      </dsp:txXfrm>
    </dsp:sp>
    <dsp:sp modelId="{139D455F-A4D7-4C76-B1CE-6B3A0615D10C}">
      <dsp:nvSpPr>
        <dsp:cNvPr id="0" name=""/>
        <dsp:cNvSpPr/>
      </dsp:nvSpPr>
      <dsp:spPr>
        <a:xfrm rot="16200000">
          <a:off x="3476012" y="903475"/>
          <a:ext cx="4726628" cy="2919676"/>
        </a:xfrm>
        <a:prstGeom prst="flowChartManualOperation">
          <a:avLst/>
        </a:prstGeom>
        <a:solidFill>
          <a:srgbClr val="006600"/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fr-MA" sz="2400" b="1" kern="1200" cap="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International</a:t>
          </a:r>
          <a:endParaRPr lang="en-US" sz="2400" b="1" kern="1200" cap="all" baseline="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fr-FR" sz="1800" b="1" kern="1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Transport principal</a:t>
          </a:r>
          <a:endParaRPr lang="en-US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fr-FR" sz="1800" b="1" kern="1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Assurance transport</a:t>
          </a:r>
          <a:r>
            <a:rPr lang="fr-FR" sz="1800" b="1" kern="1200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de la marchandise</a:t>
          </a:r>
          <a:endParaRPr lang="fr-FR" sz="1800" b="1" kern="1200" cap="small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4379488" y="945325"/>
        <a:ext cx="2919676" cy="2835976"/>
      </dsp:txXfrm>
    </dsp:sp>
    <dsp:sp modelId="{AF884444-2EA1-4DB2-93E9-4FAE2878AA3D}">
      <dsp:nvSpPr>
        <dsp:cNvPr id="0" name=""/>
        <dsp:cNvSpPr/>
      </dsp:nvSpPr>
      <dsp:spPr>
        <a:xfrm rot="16200000">
          <a:off x="7276998" y="327533"/>
          <a:ext cx="4726628" cy="4071561"/>
        </a:xfrm>
        <a:prstGeom prst="flowChartManualOperation">
          <a:avLst/>
        </a:prstGeom>
        <a:solidFill>
          <a:schemeClr val="tx1"/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3200" bIns="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fr-MA" sz="3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PAYS DE DESTINATION</a:t>
          </a:r>
          <a:endParaRPr lang="en-US" sz="3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84455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fr-FR" sz="1900" b="1" kern="1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Coûts de terminal</a:t>
          </a:r>
          <a:r>
            <a:rPr lang="fr-FR" sz="1900" b="1" kern="1200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à la destination</a:t>
          </a:r>
          <a:endParaRPr lang="en-US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84455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fr-FR" sz="1900" b="1" kern="1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Démarches de douane d’importation</a:t>
          </a:r>
        </a:p>
        <a:p>
          <a:pPr marL="171450" lvl="1" indent="-171450" algn="l" defTabSz="84455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fr-FR" sz="1900" b="1" kern="1200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Transport</a:t>
          </a:r>
          <a:r>
            <a:rPr lang="fr-FR" sz="1900" b="1" kern="1200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intérieur à la destination (post-acheminement)</a:t>
          </a:r>
        </a:p>
        <a:p>
          <a:pPr marL="171450" lvl="1" indent="-171450" algn="l" defTabSz="84455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fr-FR" sz="1900" b="1" kern="1200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Déchargement installations de l’acheteur</a:t>
          </a:r>
          <a:endParaRPr lang="fr-FR" sz="1900" b="1" kern="1200" cap="small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7604532" y="945325"/>
        <a:ext cx="4071561" cy="2835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171EE-36F6-462D-8247-8160CD40BAF8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FAC29-EC04-4849-9963-607430918878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831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BDEC6-CF6D-4537-A3BE-35BB58FFA143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916238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94728" y="3300412"/>
            <a:ext cx="795782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A03E02-2C3E-424D-AE04-6C20AB72F03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8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34362F-C1CB-4E81-A8F1-3115A5B58CD2}" type="slidenum">
              <a:rPr lang="fr-FR">
                <a:solidFill>
                  <a:prstClr val="black"/>
                </a:solidFill>
              </a:rPr>
              <a:pPr/>
              <a:t>4</a:t>
            </a:fld>
            <a:endParaRPr lang="fr-FR" dirty="0">
              <a:solidFill>
                <a:prstClr val="black"/>
              </a:solidFill>
            </a:endParaRPr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2" name="Espace réservé de l'en-tête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fr-FR" dirty="0"/>
              <a:t>COURS DE COMMERCE INTERNATIONAL - ANNEE 2019/2020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COURS DE M. BELGHITI A.</a:t>
            </a:r>
          </a:p>
        </p:txBody>
      </p:sp>
    </p:spTree>
    <p:extLst>
      <p:ext uri="{BB962C8B-B14F-4D97-AF65-F5344CB8AC3E}">
        <p14:creationId xmlns:p14="http://schemas.microsoft.com/office/powerpoint/2010/main" val="138536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34362F-C1CB-4E81-A8F1-3115A5B58CD2}" type="slidenum">
              <a:rPr lang="fr-FR">
                <a:solidFill>
                  <a:prstClr val="black"/>
                </a:solidFill>
              </a:rPr>
              <a:pPr/>
              <a:t>13</a:t>
            </a:fld>
            <a:endParaRPr lang="fr-FR">
              <a:solidFill>
                <a:prstClr val="black"/>
              </a:solidFill>
            </a:endParaRPr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Espace réservé de l'en-tête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fr-FR"/>
              <a:t>COURS DE COMMERCE INTERNATIONAL - ANNEE 2019/2020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DE M. BELGHITI A.</a:t>
            </a:r>
          </a:p>
        </p:txBody>
      </p:sp>
    </p:spTree>
    <p:extLst>
      <p:ext uri="{BB962C8B-B14F-4D97-AF65-F5344CB8AC3E}">
        <p14:creationId xmlns:p14="http://schemas.microsoft.com/office/powerpoint/2010/main" val="3160856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A7C3C-A572-462C-8339-0DA7C3F3F78E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2017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A03E02-2C3E-424D-AE04-6C20AB72F036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87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7E38-5421-4358-98A6-14644AF83D50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BE66-9BD3-4096-B68B-CA2ECCEAEB64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CC429-D08C-4D31-90FA-D2DB72440F8B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85DD-7E6E-485F-83E2-7F4A8866473E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3A69A-4F15-42E3-B214-8332AB5DE862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8D21-5E45-4D78-9EE3-1419980F0F3A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8B7A-08ED-4E1E-B50E-136B56EBA7F8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7B1B0-AD9D-434A-96F7-83841770C21A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5D0BF-1E31-4780-AC8C-F5C6B62A7AA1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8B3E-88FB-4097-BDB2-E2E719CCA0AD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A9F19-96A5-43FB-AC79-A2420DC75B9D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74E5C-8239-4C92-9557-9AF4553784B4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1C6C4-96DD-4E93-875C-21201C811B0A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AC7E0-0677-4A2C-A383-284B4C35C489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D589C-2294-4EAC-A3FC-24E18A0A0A72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5857-6A93-4734-9C25-6A16E6F86C51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27771-476E-44BC-ADFB-5FCB814A6BCF}" type="datetime1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1506244" y="911891"/>
            <a:ext cx="10174941" cy="1241580"/>
          </a:xfrm>
          <a:solidFill>
            <a:srgbClr val="FFFF0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anchor="ctr">
            <a:normAutofit/>
          </a:bodyPr>
          <a:lstStyle/>
          <a:p>
            <a:pPr algn="ctr"/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CHAPITRE 1 : INCOTERMS 2020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068028" y="3168856"/>
            <a:ext cx="100080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</a:p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 1 : DISTRIBUTION DES COÛTS LOGISTIQUES ENTRE VENDEUR ET ACHETEUR</a:t>
            </a:r>
          </a:p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 2 : OBLIGATIONS DU VENDEUR PAR FAMILLE</a:t>
            </a:r>
          </a:p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 3 : ÉTUDE DÉTAILLÉE DES INCOTERMS</a:t>
            </a:r>
          </a:p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 4 : CHOIX DÉFINITIF DE L’INCOTERM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99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669539" y="2397100"/>
            <a:ext cx="10394124" cy="2063800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Calibri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128829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1869141" y="257779"/>
            <a:ext cx="10031506" cy="136247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Quelles sont les familles d’incoterms ?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3" name="Diagramme 2"/>
          <p:cNvGraphicFramePr/>
          <p:nvPr>
            <p:extLst>
              <p:ext uri="{D42A27DB-BD31-4B8C-83A1-F6EECF244321}">
                <p14:modId xmlns:p14="http://schemas.microsoft.com/office/powerpoint/2010/main" val="2954861061"/>
              </p:ext>
            </p:extLst>
          </p:nvPr>
        </p:nvGraphicFramePr>
        <p:xfrm>
          <a:off x="2103021" y="1731720"/>
          <a:ext cx="904624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à coins arrondis 4">
            <a:extLst>
              <a:ext uri="{FF2B5EF4-FFF2-40B4-BE49-F238E27FC236}">
                <a16:creationId xmlns:a16="http://schemas.microsoft.com/office/drawing/2014/main" id="{AA73480B-4EB8-4352-A05A-1F5D94AA2A29}"/>
              </a:ext>
            </a:extLst>
          </p:cNvPr>
          <p:cNvSpPr/>
          <p:nvPr/>
        </p:nvSpPr>
        <p:spPr>
          <a:xfrm rot="16200000">
            <a:off x="-937774" y="3759816"/>
            <a:ext cx="4498706" cy="1362474"/>
          </a:xfrm>
          <a:prstGeom prst="round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familles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4E59927-E5CC-40F6-813F-427EA8CC0ACD}"/>
              </a:ext>
            </a:extLst>
          </p:cNvPr>
          <p:cNvSpPr txBox="1"/>
          <p:nvPr/>
        </p:nvSpPr>
        <p:spPr>
          <a:xfrm>
            <a:off x="2310063" y="2191700"/>
            <a:ext cx="802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0C64C1B-9523-4E80-96C4-A6E100580E41}"/>
              </a:ext>
            </a:extLst>
          </p:cNvPr>
          <p:cNvSpPr txBox="1"/>
          <p:nvPr/>
        </p:nvSpPr>
        <p:spPr>
          <a:xfrm>
            <a:off x="2791325" y="3429000"/>
            <a:ext cx="802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BF56EBF-CFD5-4F3F-A680-93A8AA4D2A6F}"/>
              </a:ext>
            </a:extLst>
          </p:cNvPr>
          <p:cNvSpPr txBox="1"/>
          <p:nvPr/>
        </p:nvSpPr>
        <p:spPr>
          <a:xfrm>
            <a:off x="2791325" y="4666300"/>
            <a:ext cx="802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326AFEA-A5DB-4597-8BDD-39D2078D11D2}"/>
              </a:ext>
            </a:extLst>
          </p:cNvPr>
          <p:cNvSpPr txBox="1"/>
          <p:nvPr/>
        </p:nvSpPr>
        <p:spPr>
          <a:xfrm>
            <a:off x="2310062" y="5903600"/>
            <a:ext cx="802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rgbClr val="33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9978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Graphic spid="3" grpId="0">
        <p:bldAsOne/>
      </p:bldGraphic>
      <p:bldP spid="6" grpId="0" animBg="1"/>
      <p:bldP spid="7" grpId="0"/>
      <p:bldP spid="8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1913964" y="304714"/>
            <a:ext cx="10094258" cy="133125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2 Recommandations de la Chambre de Commerce International (CCI) </a:t>
            </a:r>
          </a:p>
        </p:txBody>
      </p:sp>
      <p:sp>
        <p:nvSpPr>
          <p:cNvPr id="5" name="Rectangle 4"/>
          <p:cNvSpPr/>
          <p:nvPr/>
        </p:nvSpPr>
        <p:spPr>
          <a:xfrm>
            <a:off x="531812" y="2131032"/>
            <a:ext cx="906595" cy="14926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13964" y="2131032"/>
            <a:ext cx="10094259" cy="1492624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UTILISATION DE LA </a:t>
            </a:r>
            <a:r>
              <a:rPr lang="fr-FR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LANGUE D’ORIGINE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 </a:t>
            </a:r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À SAVOIR </a:t>
            </a:r>
            <a:r>
              <a:rPr lang="fr-F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L’</a:t>
            </a:r>
            <a:r>
              <a:rPr lang="fr-FR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ANGLAIS</a:t>
            </a:r>
            <a:endParaRPr lang="fr-F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Calibri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8133" y="3932329"/>
            <a:ext cx="906595" cy="1492624"/>
          </a:xfrm>
          <a:prstGeom prst="rect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13963" y="3932329"/>
            <a:ext cx="10094259" cy="1492624"/>
          </a:xfrm>
          <a:prstGeom prst="rect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DÉFINITION AVEC LA PLUS GRANDE PRÉCISION DU </a:t>
            </a:r>
            <a:r>
              <a:rPr lang="fr-FR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LIEU GÉOGRAPHIQUE</a:t>
            </a:r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 APRÈS L’INCOTERM UTILISÉ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Flèche droite 2"/>
          <p:cNvSpPr/>
          <p:nvPr/>
        </p:nvSpPr>
        <p:spPr>
          <a:xfrm>
            <a:off x="9930850" y="5733626"/>
            <a:ext cx="1642369" cy="639192"/>
          </a:xfrm>
          <a:prstGeom prst="rightArrow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42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1869141" y="59873"/>
            <a:ext cx="10031506" cy="1820941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Où est situé le lieu géographique à préciser après l’Incoterm ?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136342" y="2535987"/>
            <a:ext cx="4190260" cy="115409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Familles E &amp; F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668" y="2535987"/>
            <a:ext cx="5067670" cy="115409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Pays du vendeur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6342" y="4147352"/>
            <a:ext cx="4190260" cy="1154098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Familles C &amp; 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668" y="4147352"/>
            <a:ext cx="5067670" cy="1154098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Pays de l’acheteur</a:t>
            </a:r>
          </a:p>
        </p:txBody>
      </p:sp>
    </p:spTree>
    <p:extLst>
      <p:ext uri="{BB962C8B-B14F-4D97-AF65-F5344CB8AC3E}">
        <p14:creationId xmlns:p14="http://schemas.microsoft.com/office/powerpoint/2010/main" val="284195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740877" y="764931"/>
            <a:ext cx="4814035" cy="659423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N°1</a:t>
            </a:r>
          </a:p>
        </p:txBody>
      </p:sp>
      <p:sp>
        <p:nvSpPr>
          <p:cNvPr id="4" name="Ellipse 3"/>
          <p:cNvSpPr/>
          <p:nvPr/>
        </p:nvSpPr>
        <p:spPr>
          <a:xfrm>
            <a:off x="773725" y="1635442"/>
            <a:ext cx="2074984" cy="1987062"/>
          </a:xfrm>
          <a:prstGeom prst="ellipse">
            <a:avLst/>
          </a:prstGeom>
          <a:solidFill>
            <a:srgbClr val="CC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VENDEUR INSTALLÉ À TANGER</a:t>
            </a:r>
          </a:p>
        </p:txBody>
      </p:sp>
      <p:sp>
        <p:nvSpPr>
          <p:cNvPr id="5" name="Ellipse 4"/>
          <p:cNvSpPr/>
          <p:nvPr/>
        </p:nvSpPr>
        <p:spPr>
          <a:xfrm>
            <a:off x="767862" y="3722077"/>
            <a:ext cx="2074984" cy="1987062"/>
          </a:xfrm>
          <a:prstGeom prst="ellipse">
            <a:avLst/>
          </a:prstGeom>
          <a:solidFill>
            <a:srgbClr val="0066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ACHETEUR INSTALLÉ À ROME</a:t>
            </a:r>
          </a:p>
        </p:txBody>
      </p:sp>
      <p:sp>
        <p:nvSpPr>
          <p:cNvPr id="6" name="Triangle isocèle 5"/>
          <p:cNvSpPr/>
          <p:nvPr/>
        </p:nvSpPr>
        <p:spPr>
          <a:xfrm>
            <a:off x="3499339" y="2769577"/>
            <a:ext cx="1793631" cy="1565031"/>
          </a:xfrm>
          <a:prstGeom prst="triangle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FCA</a:t>
            </a:r>
          </a:p>
        </p:txBody>
      </p:sp>
      <p:sp>
        <p:nvSpPr>
          <p:cNvPr id="7" name="Rectangle 6"/>
          <p:cNvSpPr/>
          <p:nvPr/>
        </p:nvSpPr>
        <p:spPr>
          <a:xfrm>
            <a:off x="3516923" y="4396154"/>
            <a:ext cx="1758462" cy="492369"/>
          </a:xfrm>
          <a:prstGeom prst="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AÉROPORT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0051CB-145D-4422-8FEB-051A6059B24B}"/>
              </a:ext>
            </a:extLst>
          </p:cNvPr>
          <p:cNvSpPr/>
          <p:nvPr/>
        </p:nvSpPr>
        <p:spPr>
          <a:xfrm>
            <a:off x="5716733" y="4598006"/>
            <a:ext cx="2606000" cy="11367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FCA AÉROPORT ROME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C29481-8B67-4A33-94FB-2EB571E401FC}"/>
              </a:ext>
            </a:extLst>
          </p:cNvPr>
          <p:cNvSpPr/>
          <p:nvPr/>
        </p:nvSpPr>
        <p:spPr>
          <a:xfrm>
            <a:off x="5716733" y="1874436"/>
            <a:ext cx="2606000" cy="11367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FCA AÉROPORT TANGER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12D4C5-3790-4DB6-9068-1823D2A1C7C0}"/>
              </a:ext>
            </a:extLst>
          </p:cNvPr>
          <p:cNvSpPr/>
          <p:nvPr/>
        </p:nvSpPr>
        <p:spPr>
          <a:xfrm>
            <a:off x="9137266" y="2983720"/>
            <a:ext cx="2606000" cy="1136743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FCA AÉROPORT TANGER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740877" y="764931"/>
            <a:ext cx="5019519" cy="659423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 N°2</a:t>
            </a:r>
          </a:p>
        </p:txBody>
      </p:sp>
      <p:sp>
        <p:nvSpPr>
          <p:cNvPr id="4" name="Ellipse 3"/>
          <p:cNvSpPr/>
          <p:nvPr/>
        </p:nvSpPr>
        <p:spPr>
          <a:xfrm>
            <a:off x="549952" y="1635441"/>
            <a:ext cx="2646321" cy="2504063"/>
          </a:xfrm>
          <a:prstGeom prst="ellipse">
            <a:avLst/>
          </a:prstGeom>
          <a:solidFill>
            <a:srgbClr val="CC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VENDEUR INSTALLÉ À BARCELONE</a:t>
            </a:r>
          </a:p>
        </p:txBody>
      </p:sp>
      <p:sp>
        <p:nvSpPr>
          <p:cNvPr id="5" name="Ellipse 4"/>
          <p:cNvSpPr/>
          <p:nvPr/>
        </p:nvSpPr>
        <p:spPr>
          <a:xfrm>
            <a:off x="528394" y="4204961"/>
            <a:ext cx="2646321" cy="2504063"/>
          </a:xfrm>
          <a:prstGeom prst="ellipse">
            <a:avLst/>
          </a:prstGeom>
          <a:solidFill>
            <a:srgbClr val="0066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ACHETEUR INSTALLÉ À CASABLANCA</a:t>
            </a:r>
          </a:p>
        </p:txBody>
      </p:sp>
      <p:sp>
        <p:nvSpPr>
          <p:cNvPr id="6" name="Triangle isocèle 5"/>
          <p:cNvSpPr/>
          <p:nvPr/>
        </p:nvSpPr>
        <p:spPr>
          <a:xfrm>
            <a:off x="3624614" y="2769577"/>
            <a:ext cx="1793631" cy="1565031"/>
          </a:xfrm>
          <a:prstGeom prst="triangle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CFR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42198" y="4396154"/>
            <a:ext cx="1758462" cy="492369"/>
          </a:xfrm>
          <a:prstGeom prst="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6733" y="1874436"/>
            <a:ext cx="2606000" cy="11367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CFR PORT DE BARCELONE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29B931-FE2A-43CE-827D-DBAA3078383E}"/>
              </a:ext>
            </a:extLst>
          </p:cNvPr>
          <p:cNvSpPr/>
          <p:nvPr/>
        </p:nvSpPr>
        <p:spPr>
          <a:xfrm>
            <a:off x="5716733" y="4598006"/>
            <a:ext cx="2606000" cy="11367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CFR PORT DE CASABLANCA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B38935-FAE3-485E-9A6A-F9C5DB8331C5}"/>
              </a:ext>
            </a:extLst>
          </p:cNvPr>
          <p:cNvSpPr/>
          <p:nvPr/>
        </p:nvSpPr>
        <p:spPr>
          <a:xfrm>
            <a:off x="9137266" y="2983720"/>
            <a:ext cx="2606000" cy="1136743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CFR PORT DE CASABLANCA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740877" y="764931"/>
            <a:ext cx="5019519" cy="659423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 N°3</a:t>
            </a:r>
          </a:p>
        </p:txBody>
      </p:sp>
      <p:sp>
        <p:nvSpPr>
          <p:cNvPr id="4" name="Ellipse 3"/>
          <p:cNvSpPr/>
          <p:nvPr/>
        </p:nvSpPr>
        <p:spPr>
          <a:xfrm>
            <a:off x="575353" y="1635441"/>
            <a:ext cx="2646321" cy="2504063"/>
          </a:xfrm>
          <a:prstGeom prst="ellipse">
            <a:avLst/>
          </a:prstGeom>
          <a:solidFill>
            <a:srgbClr val="CC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VENDEUR INSTALLÉ À ISTANBUL</a:t>
            </a:r>
          </a:p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40 BD ATATURK </a:t>
            </a:r>
          </a:p>
        </p:txBody>
      </p:sp>
      <p:sp>
        <p:nvSpPr>
          <p:cNvPr id="5" name="Ellipse 4"/>
          <p:cNvSpPr/>
          <p:nvPr/>
        </p:nvSpPr>
        <p:spPr>
          <a:xfrm>
            <a:off x="528394" y="4204961"/>
            <a:ext cx="2646321" cy="2504063"/>
          </a:xfrm>
          <a:prstGeom prst="ellipse">
            <a:avLst/>
          </a:prstGeom>
          <a:solidFill>
            <a:srgbClr val="0066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ACHETEUR INSTALLÉ À LISBONNE</a:t>
            </a:r>
          </a:p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AVENUE AL CAMPION</a:t>
            </a:r>
          </a:p>
        </p:txBody>
      </p:sp>
      <p:sp>
        <p:nvSpPr>
          <p:cNvPr id="6" name="Triangle isocèle 5"/>
          <p:cNvSpPr/>
          <p:nvPr/>
        </p:nvSpPr>
        <p:spPr>
          <a:xfrm>
            <a:off x="3525429" y="2887472"/>
            <a:ext cx="1793631" cy="1565031"/>
          </a:xfrm>
          <a:prstGeom prst="triangle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EB94B7-B114-45B5-A0E4-4AA7B56E3A46}"/>
              </a:ext>
            </a:extLst>
          </p:cNvPr>
          <p:cNvSpPr/>
          <p:nvPr/>
        </p:nvSpPr>
        <p:spPr>
          <a:xfrm>
            <a:off x="5716733" y="1874436"/>
            <a:ext cx="2606000" cy="11367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EXW 40 BD ATATURK ISTANBUL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65511D-493D-44A8-85F0-692513ADBE28}"/>
              </a:ext>
            </a:extLst>
          </p:cNvPr>
          <p:cNvSpPr/>
          <p:nvPr/>
        </p:nvSpPr>
        <p:spPr>
          <a:xfrm>
            <a:off x="5716733" y="4598006"/>
            <a:ext cx="2606000" cy="11367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EXW 2 AVENUE AL CAMION LISBONNE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93621B-B65E-431D-92AE-66277690ECAC}"/>
              </a:ext>
            </a:extLst>
          </p:cNvPr>
          <p:cNvSpPr/>
          <p:nvPr/>
        </p:nvSpPr>
        <p:spPr>
          <a:xfrm>
            <a:off x="9145733" y="3011179"/>
            <a:ext cx="2606000" cy="1360330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EXW 40 BD ATATURK ISTANBUL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740877" y="764931"/>
            <a:ext cx="5019519" cy="659423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 N°4</a:t>
            </a:r>
          </a:p>
        </p:txBody>
      </p:sp>
      <p:sp>
        <p:nvSpPr>
          <p:cNvPr id="4" name="Ellipse 3"/>
          <p:cNvSpPr/>
          <p:nvPr/>
        </p:nvSpPr>
        <p:spPr>
          <a:xfrm>
            <a:off x="575353" y="1635441"/>
            <a:ext cx="2646321" cy="2504063"/>
          </a:xfrm>
          <a:prstGeom prst="ellipse">
            <a:avLst/>
          </a:prstGeom>
          <a:solidFill>
            <a:srgbClr val="CC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VENDEUR INSTALLÉ À MADRID</a:t>
            </a:r>
          </a:p>
        </p:txBody>
      </p:sp>
      <p:sp>
        <p:nvSpPr>
          <p:cNvPr id="5" name="Ellipse 4"/>
          <p:cNvSpPr/>
          <p:nvPr/>
        </p:nvSpPr>
        <p:spPr>
          <a:xfrm>
            <a:off x="528394" y="4204961"/>
            <a:ext cx="2646321" cy="2504063"/>
          </a:xfrm>
          <a:prstGeom prst="ellipse">
            <a:avLst/>
          </a:prstGeom>
          <a:solidFill>
            <a:srgbClr val="0066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ACHETEUR INSTALLÉ À RABAT</a:t>
            </a:r>
          </a:p>
        </p:txBody>
      </p:sp>
      <p:sp>
        <p:nvSpPr>
          <p:cNvPr id="6" name="Triangle isocèle 5"/>
          <p:cNvSpPr/>
          <p:nvPr/>
        </p:nvSpPr>
        <p:spPr>
          <a:xfrm>
            <a:off x="3495652" y="2887472"/>
            <a:ext cx="1793631" cy="1565031"/>
          </a:xfrm>
          <a:prstGeom prst="triangle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13236" y="4608296"/>
            <a:ext cx="1758462" cy="492369"/>
          </a:xfrm>
          <a:prstGeom prst="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AÉROPORT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4922B8-656C-454A-AACA-E2B15864850C}"/>
              </a:ext>
            </a:extLst>
          </p:cNvPr>
          <p:cNvSpPr/>
          <p:nvPr/>
        </p:nvSpPr>
        <p:spPr>
          <a:xfrm>
            <a:off x="5716733" y="1874436"/>
            <a:ext cx="2606000" cy="11367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CPT AÉROPORT MADRID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F15F57-C246-4567-A6C2-CE3879C3CAFF}"/>
              </a:ext>
            </a:extLst>
          </p:cNvPr>
          <p:cNvSpPr/>
          <p:nvPr/>
        </p:nvSpPr>
        <p:spPr>
          <a:xfrm>
            <a:off x="5716733" y="4598006"/>
            <a:ext cx="2606000" cy="11367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CPT AÉROPORT RABAT-SALE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245F04-8576-4E8F-BAFA-C58820399B99}"/>
              </a:ext>
            </a:extLst>
          </p:cNvPr>
          <p:cNvSpPr/>
          <p:nvPr/>
        </p:nvSpPr>
        <p:spPr>
          <a:xfrm>
            <a:off x="9145733" y="3011179"/>
            <a:ext cx="2606000" cy="1360330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CPT AÉROPORT RABAT-SALE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740877" y="764931"/>
            <a:ext cx="5019519" cy="659423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 N°5</a:t>
            </a:r>
          </a:p>
        </p:txBody>
      </p:sp>
      <p:sp>
        <p:nvSpPr>
          <p:cNvPr id="4" name="Ellipse 3"/>
          <p:cNvSpPr/>
          <p:nvPr/>
        </p:nvSpPr>
        <p:spPr>
          <a:xfrm>
            <a:off x="575353" y="1635441"/>
            <a:ext cx="2646321" cy="2504063"/>
          </a:xfrm>
          <a:prstGeom prst="ellipse">
            <a:avLst/>
          </a:prstGeom>
          <a:solidFill>
            <a:srgbClr val="CC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VENDEUR INSTALLÉ À GÈNES</a:t>
            </a:r>
          </a:p>
        </p:txBody>
      </p:sp>
      <p:sp>
        <p:nvSpPr>
          <p:cNvPr id="5" name="Ellipse 4"/>
          <p:cNvSpPr/>
          <p:nvPr/>
        </p:nvSpPr>
        <p:spPr>
          <a:xfrm>
            <a:off x="528394" y="4204961"/>
            <a:ext cx="2646321" cy="2504063"/>
          </a:xfrm>
          <a:prstGeom prst="ellipse">
            <a:avLst/>
          </a:prstGeom>
          <a:solidFill>
            <a:srgbClr val="0066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ACHETEUR INSTALLÉ À SHANGHAI</a:t>
            </a:r>
          </a:p>
        </p:txBody>
      </p:sp>
      <p:sp>
        <p:nvSpPr>
          <p:cNvPr id="6" name="Triangle isocèle 5"/>
          <p:cNvSpPr/>
          <p:nvPr/>
        </p:nvSpPr>
        <p:spPr>
          <a:xfrm>
            <a:off x="3663388" y="2771287"/>
            <a:ext cx="1793631" cy="1565031"/>
          </a:xfrm>
          <a:prstGeom prst="triangle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DPU</a:t>
            </a:r>
          </a:p>
        </p:txBody>
      </p:sp>
      <p:sp>
        <p:nvSpPr>
          <p:cNvPr id="9" name="Rectangle 8"/>
          <p:cNvSpPr/>
          <p:nvPr/>
        </p:nvSpPr>
        <p:spPr>
          <a:xfrm>
            <a:off x="3711806" y="4438963"/>
            <a:ext cx="1758462" cy="492369"/>
          </a:xfrm>
          <a:prstGeom prst="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D97AF6-E424-4534-BFE3-167D556A45D2}"/>
              </a:ext>
            </a:extLst>
          </p:cNvPr>
          <p:cNvSpPr/>
          <p:nvPr/>
        </p:nvSpPr>
        <p:spPr>
          <a:xfrm>
            <a:off x="5716733" y="1874436"/>
            <a:ext cx="2606000" cy="11367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DPU PORT DE GENES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488000-7CA7-4233-957C-746CEBC802D9}"/>
              </a:ext>
            </a:extLst>
          </p:cNvPr>
          <p:cNvSpPr/>
          <p:nvPr/>
        </p:nvSpPr>
        <p:spPr>
          <a:xfrm>
            <a:off x="5716733" y="4598006"/>
            <a:ext cx="2606000" cy="11367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DPU PORT SHANGHAI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FCDA72-F856-4DB5-8784-EA158F175DA7}"/>
              </a:ext>
            </a:extLst>
          </p:cNvPr>
          <p:cNvSpPr/>
          <p:nvPr/>
        </p:nvSpPr>
        <p:spPr>
          <a:xfrm>
            <a:off x="9145733" y="3011179"/>
            <a:ext cx="2606000" cy="1360330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DPU PORT SHANGHAI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1869141" y="257779"/>
            <a:ext cx="10031506" cy="136247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 choisit initialement l’Incoterm ?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74198" y="2166151"/>
            <a:ext cx="2405849" cy="115409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 principe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064" y="2166151"/>
            <a:ext cx="3176726" cy="115409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Acheteur 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198" y="4529091"/>
            <a:ext cx="2405849" cy="1154098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064" y="4529091"/>
            <a:ext cx="3176726" cy="1154098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Vendeur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54897" y="2201662"/>
            <a:ext cx="3756734" cy="115409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Rédaction de la demande de prix à l’international</a:t>
            </a:r>
            <a:endParaRPr lang="fr-FR" sz="28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54897" y="4529091"/>
            <a:ext cx="3756734" cy="1154098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Rédaction de l’offre de prix à l’international</a:t>
            </a:r>
            <a:endParaRPr lang="fr-FR" sz="3200" b="1" cap="small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1166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1869141" y="321326"/>
            <a:ext cx="10031506" cy="1663161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qui remettre les marchandises au lieu convenu ?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522651" y="2198236"/>
            <a:ext cx="3302493" cy="1663162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Familles E &amp; 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3113" y="2198236"/>
            <a:ext cx="6347534" cy="1663162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 transporteur désigné par l’acheteur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22651" y="4561176"/>
            <a:ext cx="3302493" cy="1663162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Familles C &amp; 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53113" y="4561176"/>
            <a:ext cx="6347534" cy="1663162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l’acheteur ou à son transitaire</a:t>
            </a:r>
          </a:p>
        </p:txBody>
      </p:sp>
    </p:spTree>
    <p:extLst>
      <p:ext uri="{BB962C8B-B14F-4D97-AF65-F5344CB8AC3E}">
        <p14:creationId xmlns:p14="http://schemas.microsoft.com/office/powerpoint/2010/main" val="266177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1954305" y="502344"/>
            <a:ext cx="10094259" cy="93599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4 Rôles des Incoterms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904" y="1713495"/>
            <a:ext cx="906595" cy="936000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54304" y="1713495"/>
            <a:ext cx="10094259" cy="936000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DÉTERMINER LES </a:t>
            </a:r>
            <a:r>
              <a:rPr lang="fr-FR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OBLIGATIONS RÉCIPROQUES </a:t>
            </a:r>
            <a:r>
              <a:rPr lang="fr-F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DU VENDEUR ET DE L’ACHETEUR</a:t>
            </a:r>
            <a:endParaRPr lang="fr-F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Calibri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8904" y="2948882"/>
            <a:ext cx="906595" cy="936000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54304" y="2948882"/>
            <a:ext cx="10094259" cy="936000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DÉTERMINER LES </a:t>
            </a:r>
            <a:r>
              <a:rPr lang="fr-FR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RISQUES SUPPORTÉS </a:t>
            </a:r>
            <a:r>
              <a:rPr lang="fr-F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PAR LE VENDEUR ET PAR L’ACHETEUR</a:t>
            </a:r>
            <a:endParaRPr lang="fr-F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Calibri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904" y="4184269"/>
            <a:ext cx="906595" cy="936000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54304" y="4184269"/>
            <a:ext cx="10094259" cy="936000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DÉTERMINER LES </a:t>
            </a:r>
            <a:r>
              <a:rPr lang="fr-FR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COÛTS SUPPORTÉS </a:t>
            </a:r>
            <a:r>
              <a:rPr lang="fr-F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PAR LE VENDEUR ET PAR L’ACHETEUR</a:t>
            </a:r>
            <a:endParaRPr lang="fr-F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Calibri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904" y="5419656"/>
            <a:ext cx="906595" cy="936000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954304" y="5419656"/>
            <a:ext cx="10094259" cy="936000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DÉTERMINER LES </a:t>
            </a:r>
            <a:r>
              <a:rPr lang="fr-FR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DOCUMENTS</a:t>
            </a:r>
            <a:r>
              <a:rPr lang="fr-F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 QUE DOIT ADRESSER LE VENDEUR À L’ACHETEUR</a:t>
            </a:r>
            <a:endParaRPr lang="fr-F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Calibri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70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1869141" y="257779"/>
            <a:ext cx="10031506" cy="136247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Incoterms multimodaux / Incoterms exclusivement maritimes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74198" y="1888195"/>
            <a:ext cx="4190260" cy="2155794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Incoterms Multimodaux</a:t>
            </a:r>
          </a:p>
          <a:p>
            <a:pPr algn="ctr"/>
            <a:r>
              <a:rPr lang="fr-FR" sz="24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(Terrestres – Aériens –Maritimes)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84524" y="1888195"/>
            <a:ext cx="5067670" cy="2155794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EXW – FCA – CPT – CIP – DAP – DPU – DDP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198" y="4529091"/>
            <a:ext cx="4190260" cy="2155794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Incoterms exclusivement maritimes</a:t>
            </a:r>
          </a:p>
          <a:p>
            <a:pPr algn="ctr"/>
            <a:r>
              <a:rPr lang="fr-FR" sz="24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(Par voie d’eau)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4524" y="4529091"/>
            <a:ext cx="5067670" cy="2155794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 – FOB – CFR – CIF </a:t>
            </a:r>
          </a:p>
        </p:txBody>
      </p:sp>
    </p:spTree>
    <p:extLst>
      <p:ext uri="{BB962C8B-B14F-4D97-AF65-F5344CB8AC3E}">
        <p14:creationId xmlns:p14="http://schemas.microsoft.com/office/powerpoint/2010/main" val="254375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1869141" y="257779"/>
            <a:ext cx="10031506" cy="136247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 paie le transport international ?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74198" y="2166151"/>
            <a:ext cx="4190260" cy="115409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Familles E &amp; F</a:t>
            </a:r>
          </a:p>
        </p:txBody>
      </p:sp>
      <p:sp>
        <p:nvSpPr>
          <p:cNvPr id="7" name="Rectangle 6"/>
          <p:cNvSpPr/>
          <p:nvPr/>
        </p:nvSpPr>
        <p:spPr>
          <a:xfrm>
            <a:off x="6384524" y="2166151"/>
            <a:ext cx="5067670" cy="115409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198" y="4529091"/>
            <a:ext cx="4190260" cy="1154098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Familles C &amp; D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4524" y="4529091"/>
            <a:ext cx="5067670" cy="1154098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Vendeur</a:t>
            </a:r>
          </a:p>
        </p:txBody>
      </p:sp>
    </p:spTree>
    <p:extLst>
      <p:ext uri="{BB962C8B-B14F-4D97-AF65-F5344CB8AC3E}">
        <p14:creationId xmlns:p14="http://schemas.microsoft.com/office/powerpoint/2010/main" val="187770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1869141" y="257779"/>
            <a:ext cx="10031506" cy="169935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 supporte les risques et les périls pendant le transport international ?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522651" y="3189302"/>
            <a:ext cx="4190260" cy="115409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Familles E, F &amp; C</a:t>
            </a:r>
          </a:p>
        </p:txBody>
      </p:sp>
      <p:sp>
        <p:nvSpPr>
          <p:cNvPr id="7" name="Rectangle 6"/>
          <p:cNvSpPr/>
          <p:nvPr/>
        </p:nvSpPr>
        <p:spPr>
          <a:xfrm>
            <a:off x="6832977" y="3189302"/>
            <a:ext cx="5067670" cy="115409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2651" y="4661166"/>
            <a:ext cx="4190260" cy="1154098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Famille D</a:t>
            </a:r>
          </a:p>
        </p:txBody>
      </p:sp>
      <p:sp>
        <p:nvSpPr>
          <p:cNvPr id="9" name="Rectangle 8"/>
          <p:cNvSpPr/>
          <p:nvPr/>
        </p:nvSpPr>
        <p:spPr>
          <a:xfrm>
            <a:off x="6832977" y="4661166"/>
            <a:ext cx="5067670" cy="1154098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Vendeur</a:t>
            </a:r>
          </a:p>
        </p:txBody>
      </p:sp>
    </p:spTree>
    <p:extLst>
      <p:ext uri="{BB962C8B-B14F-4D97-AF65-F5344CB8AC3E}">
        <p14:creationId xmlns:p14="http://schemas.microsoft.com/office/powerpoint/2010/main" val="221891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637455" y="288758"/>
            <a:ext cx="10394124" cy="2063800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Calibri" pitchFamily="34" charset="0"/>
              </a:rPr>
              <a:t>SECTION 1 : DISTRIBUTION DES COÛTS LOGISTIQUES ENTRE VENDEUR ET ACHETEUR</a:t>
            </a:r>
          </a:p>
        </p:txBody>
      </p:sp>
      <p:sp>
        <p:nvSpPr>
          <p:cNvPr id="2" name="Rectangle à coins arrondis 1"/>
          <p:cNvSpPr/>
          <p:nvPr/>
        </p:nvSpPr>
        <p:spPr>
          <a:xfrm>
            <a:off x="1311579" y="2518610"/>
            <a:ext cx="10426208" cy="818147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3 CATÉGORIES DE COÛTS SELON LE LIEU</a:t>
            </a:r>
            <a:endParaRPr lang="en-US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49872" y="3486508"/>
            <a:ext cx="7587915" cy="936000"/>
          </a:xfrm>
          <a:prstGeom prst="rect">
            <a:avLst/>
          </a:prstGeom>
          <a:solidFill>
            <a:srgbClr val="CC0000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CEUX SUPPORTÉS DANS LE PAYS D’ORIGINE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49872" y="4588560"/>
            <a:ext cx="7587915" cy="936000"/>
          </a:xfrm>
          <a:prstGeom prst="rect">
            <a:avLst/>
          </a:prstGeom>
          <a:solidFill>
            <a:srgbClr val="006600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CEUX SUPPORTÉS AU NIVEAU INTERNATIONAL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9871" y="5690612"/>
            <a:ext cx="7587915" cy="936000"/>
          </a:xfrm>
          <a:prstGeom prst="rect">
            <a:avLst/>
          </a:prstGeom>
          <a:solidFill>
            <a:srgbClr val="000000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CEUX SUPPORTÉS DANS LE PAYS DE DESTINATION</a:t>
            </a:r>
          </a:p>
        </p:txBody>
      </p:sp>
    </p:spTree>
    <p:extLst>
      <p:ext uri="{BB962C8B-B14F-4D97-AF65-F5344CB8AC3E}">
        <p14:creationId xmlns:p14="http://schemas.microsoft.com/office/powerpoint/2010/main" val="30790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2" name="Diagramme 1"/>
          <p:cNvGraphicFramePr/>
          <p:nvPr>
            <p:extLst>
              <p:ext uri="{D42A27DB-BD31-4B8C-83A1-F6EECF244321}">
                <p14:modId xmlns:p14="http://schemas.microsoft.com/office/powerpoint/2010/main" val="3591016208"/>
              </p:ext>
            </p:extLst>
          </p:nvPr>
        </p:nvGraphicFramePr>
        <p:xfrm>
          <a:off x="192505" y="1411705"/>
          <a:ext cx="11678653" cy="47266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963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67077" y="1646904"/>
            <a:ext cx="704088" cy="5029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2975" y="1646904"/>
            <a:ext cx="10820475" cy="5029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Emballage &amp; Vérification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67077" y="2233243"/>
            <a:ext cx="11716376" cy="669755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charge du vendeur pour toutes les familles d’incoterms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7078" y="3060718"/>
            <a:ext cx="704088" cy="881012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2976" y="3060718"/>
            <a:ext cx="10820476" cy="881012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Chargement de la marchandise à l’origine (Domicile du vendeur)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77" y="4075871"/>
            <a:ext cx="11716375" cy="664598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charge du vendeur pour les Incoterms des familles F, C et D.</a:t>
            </a:r>
          </a:p>
        </p:txBody>
      </p:sp>
      <p:sp>
        <p:nvSpPr>
          <p:cNvPr id="12" name="Titre 1"/>
          <p:cNvSpPr txBox="1">
            <a:spLocks/>
          </p:cNvSpPr>
          <p:nvPr/>
        </p:nvSpPr>
        <p:spPr>
          <a:xfrm>
            <a:off x="1816022" y="127651"/>
            <a:ext cx="10167429" cy="1280890"/>
          </a:xfrm>
          <a:prstGeom prst="rect">
            <a:avLst/>
          </a:prstGeom>
          <a:solidFill>
            <a:srgbClr val="00330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Coûts logistiques supportés dans le pays d’origine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076" y="4874610"/>
            <a:ext cx="704088" cy="64008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2668" y="4874610"/>
            <a:ext cx="10800782" cy="64008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 intérieur à l’origine (Préacheminement)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76" y="5627785"/>
            <a:ext cx="11716374" cy="657606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charge du vendeur pour les Incoterms des familles F, C et D.</a:t>
            </a:r>
          </a:p>
        </p:txBody>
      </p:sp>
    </p:spTree>
    <p:extLst>
      <p:ext uri="{BB962C8B-B14F-4D97-AF65-F5344CB8AC3E}">
        <p14:creationId xmlns:p14="http://schemas.microsoft.com/office/powerpoint/2010/main" val="149327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2" grpId="0" animBg="1"/>
      <p:bldP spid="10" grpId="0" animBg="1"/>
      <p:bldP spid="11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53117" y="3279994"/>
            <a:ext cx="704088" cy="1070064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1136342" y="3279994"/>
            <a:ext cx="10850535" cy="1070064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Coûts de terminal de la marchandise à l’origine (Chargement sur la moyen de transport international à la frontière de départ)</a:t>
            </a:r>
            <a:endParaRPr lang="fr-FR" sz="36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3117" y="4494836"/>
            <a:ext cx="11733760" cy="1577489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Appelés THC (Terminal Handling Charges)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FCA : A la charge de l’acheteur.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FOB : Répartis entre acheteur et vendeur – Frais de mise sous palan à la charge du vendeur et frais d’arrimage à la charge de l’acheteur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117" y="1945518"/>
            <a:ext cx="704088" cy="5029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6342" y="1945518"/>
            <a:ext cx="10850536" cy="50292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Démarches de douane d’exportation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118" y="2503302"/>
            <a:ext cx="11733760" cy="721828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charge de l’acheteur pour un seul Incoterm à savoir EXW.</a:t>
            </a:r>
          </a:p>
        </p:txBody>
      </p:sp>
    </p:spTree>
    <p:extLst>
      <p:ext uri="{BB962C8B-B14F-4D97-AF65-F5344CB8AC3E}">
        <p14:creationId xmlns:p14="http://schemas.microsoft.com/office/powerpoint/2010/main" val="417913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2" grpId="0" animBg="1"/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5378" y="2336678"/>
            <a:ext cx="704089" cy="515112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7665" y="2331210"/>
            <a:ext cx="11060808" cy="515112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 principal (ou international)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5378" y="3123534"/>
            <a:ext cx="11893095" cy="1182136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charge de l’acheteur pour les Incoterms des familles E et 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charge du vendeur pour les Incoterms des familles C et D.</a:t>
            </a:r>
          </a:p>
        </p:txBody>
      </p:sp>
      <p:sp>
        <p:nvSpPr>
          <p:cNvPr id="12" name="Titre 1"/>
          <p:cNvSpPr txBox="1">
            <a:spLocks/>
          </p:cNvSpPr>
          <p:nvPr/>
        </p:nvSpPr>
        <p:spPr>
          <a:xfrm>
            <a:off x="1861044" y="845549"/>
            <a:ext cx="10167429" cy="1280890"/>
          </a:xfrm>
          <a:prstGeom prst="rect">
            <a:avLst/>
          </a:prstGeom>
          <a:solidFill>
            <a:srgbClr val="00330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Coûts logistiques supportés au niveau international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35377" y="4466465"/>
            <a:ext cx="704089" cy="515112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991865" y="4466465"/>
            <a:ext cx="11036608" cy="515112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Assurance-Transport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378" y="5161341"/>
            <a:ext cx="11893095" cy="1518008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u="sng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Obligation pour le vendeur </a:t>
            </a:r>
            <a:r>
              <a:rPr lang="fr-FR" sz="28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souscrire en faveur de l’acheteur d’une assurance-transport de la marchandise depuis le lieu de livraison jusqu’au lieu de destination </a:t>
            </a:r>
            <a:r>
              <a:rPr lang="fr-FR" sz="2800" b="1" u="sng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uniquement </a:t>
            </a:r>
            <a:r>
              <a:rPr lang="fr-FR" sz="28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dans les Incoterms CIP et CIF.</a:t>
            </a:r>
          </a:p>
        </p:txBody>
      </p:sp>
    </p:spTree>
    <p:extLst>
      <p:ext uri="{BB962C8B-B14F-4D97-AF65-F5344CB8AC3E}">
        <p14:creationId xmlns:p14="http://schemas.microsoft.com/office/powerpoint/2010/main" val="331049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7" grpId="0" animBg="1"/>
      <p:bldP spid="8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9325" y="1827924"/>
            <a:ext cx="704088" cy="524659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937773" y="1827924"/>
            <a:ext cx="11061756" cy="524659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Coûts de terminal à destination (THC) (Déchargement à la frontière arrivée)</a:t>
            </a:r>
          </a:p>
        </p:txBody>
      </p:sp>
      <p:sp>
        <p:nvSpPr>
          <p:cNvPr id="5" name="Rectangle 4"/>
          <p:cNvSpPr/>
          <p:nvPr/>
        </p:nvSpPr>
        <p:spPr>
          <a:xfrm>
            <a:off x="89324" y="2399105"/>
            <a:ext cx="11910204" cy="739965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fr-FR" sz="24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charge du vendeur pour la seule famille D.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fr-FR" sz="24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 particuliers des Incoterms CFR et CIF (Notion de désarrimage) 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5" y="3232665"/>
            <a:ext cx="704088" cy="515112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929733" y="3227837"/>
            <a:ext cx="11061756" cy="515112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Démarche de douane à l’importation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5" y="3807360"/>
            <a:ext cx="11910204" cy="595867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charge du vendeur pour un seul Incoterm DDP.</a:t>
            </a:r>
          </a:p>
        </p:txBody>
      </p:sp>
      <p:sp>
        <p:nvSpPr>
          <p:cNvPr id="15" name="Titre 1"/>
          <p:cNvSpPr txBox="1">
            <a:spLocks/>
          </p:cNvSpPr>
          <p:nvPr/>
        </p:nvSpPr>
        <p:spPr>
          <a:xfrm>
            <a:off x="1816022" y="405500"/>
            <a:ext cx="10167429" cy="1280890"/>
          </a:xfrm>
          <a:prstGeom prst="rect">
            <a:avLst/>
          </a:prstGeom>
          <a:solidFill>
            <a:srgbClr val="00330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Coûts logistiques supportés dans le pays de destination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324" y="4453366"/>
            <a:ext cx="704088" cy="64008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7772" y="4453366"/>
            <a:ext cx="11053717" cy="64008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 intérieur à la destination (Post-acheminement)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324" y="5161443"/>
            <a:ext cx="11902166" cy="501788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charge du vendeur pour les Incoterms DAP et DDP.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246" y="5727656"/>
            <a:ext cx="704088" cy="488402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1695" y="5727656"/>
            <a:ext cx="11053717" cy="488402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Déchargement de la marchandise à la destination (Domicile de l’acheteur)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4" y="6265055"/>
            <a:ext cx="11894127" cy="555548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Toujours à la charge de l’acheteur</a:t>
            </a:r>
          </a:p>
        </p:txBody>
      </p:sp>
    </p:spTree>
    <p:extLst>
      <p:ext uri="{BB962C8B-B14F-4D97-AF65-F5344CB8AC3E}">
        <p14:creationId xmlns:p14="http://schemas.microsoft.com/office/powerpoint/2010/main" val="174737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5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1648036"/>
              </p:ext>
            </p:extLst>
          </p:nvPr>
        </p:nvGraphicFramePr>
        <p:xfrm>
          <a:off x="531812" y="1298445"/>
          <a:ext cx="11520000" cy="526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38944">
                <a:tc>
                  <a:txBody>
                    <a:bodyPr/>
                    <a:lstStyle/>
                    <a:p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Incoterm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EXW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CIF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  <a:endParaRPr lang="fr-FR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ZoneTexte 5"/>
          <p:cNvSpPr txBox="1"/>
          <p:nvPr/>
        </p:nvSpPr>
        <p:spPr>
          <a:xfrm>
            <a:off x="2167128" y="507974"/>
            <a:ext cx="9957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A: Acheteur	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</a:t>
            </a:r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: Pas d’obligation de souscrire une assurance.</a:t>
            </a:r>
          </a:p>
          <a:p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 : Vendeur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 : Pas d’obligation de souscrire une assurance.</a:t>
            </a:r>
          </a:p>
        </p:txBody>
      </p:sp>
    </p:spTree>
    <p:extLst>
      <p:ext uri="{BB962C8B-B14F-4D97-AF65-F5344CB8AC3E}">
        <p14:creationId xmlns:p14="http://schemas.microsoft.com/office/powerpoint/2010/main" val="259107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04870" y="229765"/>
            <a:ext cx="10394124" cy="1579370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Calibri" pitchFamily="34" charset="0"/>
              </a:rPr>
              <a:t>SECTION 2 : OBLIGATIONS DU VENDEUR PAR FAMILLE D’INCOTERMS</a:t>
            </a:r>
          </a:p>
        </p:txBody>
      </p:sp>
      <p:grpSp>
        <p:nvGrpSpPr>
          <p:cNvPr id="37" name="Groupe 36"/>
          <p:cNvGrpSpPr/>
          <p:nvPr/>
        </p:nvGrpSpPr>
        <p:grpSpPr>
          <a:xfrm>
            <a:off x="363871" y="2050173"/>
            <a:ext cx="11735123" cy="4423034"/>
            <a:chOff x="363871" y="2001012"/>
            <a:chExt cx="11735123" cy="4423034"/>
          </a:xfrm>
        </p:grpSpPr>
        <p:sp>
          <p:nvSpPr>
            <p:cNvPr id="19" name="Flèche droite à entaille 18"/>
            <p:cNvSpPr/>
            <p:nvPr/>
          </p:nvSpPr>
          <p:spPr>
            <a:xfrm>
              <a:off x="531812" y="4188542"/>
              <a:ext cx="11424214" cy="511276"/>
            </a:xfrm>
            <a:prstGeom prst="notchedRightArrow">
              <a:avLst/>
            </a:prstGeom>
            <a:solidFill>
              <a:schemeClr val="accent1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120877" y="4070556"/>
              <a:ext cx="190702" cy="7374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498258" y="4070554"/>
              <a:ext cx="190702" cy="7374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875639" y="4073320"/>
              <a:ext cx="190702" cy="7374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1292863" y="4070554"/>
              <a:ext cx="190702" cy="7374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ZoneTexte 24"/>
            <p:cNvSpPr txBox="1"/>
            <p:nvPr/>
          </p:nvSpPr>
          <p:spPr>
            <a:xfrm>
              <a:off x="824640" y="3313305"/>
              <a:ext cx="7831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</a:t>
              </a:r>
            </a:p>
          </p:txBody>
        </p:sp>
        <p:sp>
          <p:nvSpPr>
            <p:cNvPr id="26" name="ZoneTexte 25"/>
            <p:cNvSpPr txBox="1"/>
            <p:nvPr/>
          </p:nvSpPr>
          <p:spPr>
            <a:xfrm>
              <a:off x="4202021" y="3313305"/>
              <a:ext cx="7831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</a:t>
              </a:r>
            </a:p>
          </p:txBody>
        </p:sp>
        <p:sp>
          <p:nvSpPr>
            <p:cNvPr id="27" name="ZoneTexte 26"/>
            <p:cNvSpPr txBox="1"/>
            <p:nvPr/>
          </p:nvSpPr>
          <p:spPr>
            <a:xfrm>
              <a:off x="7579402" y="3313305"/>
              <a:ext cx="7831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</a:t>
              </a: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10996626" y="3313305"/>
              <a:ext cx="7831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</a:t>
              </a:r>
            </a:p>
          </p:txBody>
        </p:sp>
        <p:sp>
          <p:nvSpPr>
            <p:cNvPr id="29" name="Text Box 18"/>
            <p:cNvSpPr txBox="1">
              <a:spLocks noChangeArrowheads="1"/>
            </p:cNvSpPr>
            <p:nvPr/>
          </p:nvSpPr>
          <p:spPr bwMode="auto">
            <a:xfrm>
              <a:off x="402990" y="5962381"/>
              <a:ext cx="5565616" cy="46166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anchor="ctr">
              <a:sp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fr-FR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lt"/>
                  <a:cs typeface="Calibri" pitchFamily="34" charset="0"/>
                </a:rPr>
                <a:t>OBLIGATIONS DE L’ACHETEUR</a:t>
              </a:r>
            </a:p>
          </p:txBody>
        </p:sp>
        <p:sp>
          <p:nvSpPr>
            <p:cNvPr id="30" name="Line 20"/>
            <p:cNvSpPr>
              <a:spLocks noChangeShapeType="1"/>
            </p:cNvSpPr>
            <p:nvPr/>
          </p:nvSpPr>
          <p:spPr bwMode="auto">
            <a:xfrm flipV="1">
              <a:off x="2259288" y="5271810"/>
              <a:ext cx="8015422" cy="36148"/>
            </a:xfrm>
            <a:prstGeom prst="line">
              <a:avLst/>
            </a:prstGeom>
            <a:noFill/>
            <a:ln w="76200">
              <a:solidFill>
                <a:schemeClr val="accent6">
                  <a:lumMod val="50000"/>
                </a:schemeClr>
              </a:solidFill>
              <a:prstDash val="dash"/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2400">
                <a:solidFill>
                  <a:srgbClr val="FFFFFF"/>
                </a:solidFill>
                <a:latin typeface="+mj-lt"/>
                <a:cs typeface="Calibri" pitchFamily="34" charset="0"/>
              </a:endParaRPr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363871" y="5036878"/>
              <a:ext cx="1895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cs typeface="Calibri" pitchFamily="34" charset="0"/>
                </a:rPr>
                <a:t>MAXIMUM</a:t>
              </a:r>
            </a:p>
          </p:txBody>
        </p:sp>
        <p:sp>
          <p:nvSpPr>
            <p:cNvPr id="32" name="ZoneTexte 31"/>
            <p:cNvSpPr txBox="1"/>
            <p:nvPr/>
          </p:nvSpPr>
          <p:spPr>
            <a:xfrm>
              <a:off x="10203579" y="5036878"/>
              <a:ext cx="1895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cs typeface="Calibri" pitchFamily="34" charset="0"/>
                </a:rPr>
                <a:t>MINIMUM</a:t>
              </a:r>
            </a:p>
          </p:txBody>
        </p:sp>
        <p:sp>
          <p:nvSpPr>
            <p:cNvPr id="33" name="Text Box 12"/>
            <p:cNvSpPr txBox="1">
              <a:spLocks noChangeArrowheads="1"/>
            </p:cNvSpPr>
            <p:nvPr/>
          </p:nvSpPr>
          <p:spPr bwMode="auto">
            <a:xfrm>
              <a:off x="402990" y="2001012"/>
              <a:ext cx="5041698" cy="461665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square" anchor="ctr">
              <a:sp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fr-FR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lt"/>
                  <a:cs typeface="Calibri" pitchFamily="34" charset="0"/>
                </a:rPr>
                <a:t>OBLIGATIONS DU VENDEUR</a:t>
              </a:r>
            </a:p>
          </p:txBody>
        </p:sp>
        <p:sp>
          <p:nvSpPr>
            <p:cNvPr id="34" name="Line 15"/>
            <p:cNvSpPr>
              <a:spLocks noChangeShapeType="1"/>
            </p:cNvSpPr>
            <p:nvPr/>
          </p:nvSpPr>
          <p:spPr bwMode="auto">
            <a:xfrm>
              <a:off x="2259287" y="3177135"/>
              <a:ext cx="7801323" cy="2248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prstDash val="dash"/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2400">
                <a:solidFill>
                  <a:srgbClr val="FFFFFF"/>
                </a:solidFill>
                <a:latin typeface="+mj-lt"/>
                <a:cs typeface="Calibri" pitchFamily="34" charset="0"/>
              </a:endParaRPr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363872" y="2859135"/>
              <a:ext cx="1895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cs typeface="Calibri" pitchFamily="34" charset="0"/>
                </a:rPr>
                <a:t>MINIMUM</a:t>
              </a:r>
            </a:p>
          </p:txBody>
        </p:sp>
        <p:sp>
          <p:nvSpPr>
            <p:cNvPr id="36" name="ZoneTexte 35"/>
            <p:cNvSpPr txBox="1"/>
            <p:nvPr/>
          </p:nvSpPr>
          <p:spPr>
            <a:xfrm>
              <a:off x="10060611" y="2891887"/>
              <a:ext cx="1895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cs typeface="Calibri" pitchFamily="34" charset="0"/>
                </a:rPr>
                <a:t>MAXIMUM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181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71485" y="399522"/>
            <a:ext cx="9833128" cy="753385"/>
          </a:xfrm>
          <a:solidFill>
            <a:srgbClr val="003300"/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/>
          <a:lstStyle/>
          <a:p>
            <a:pPr algn="ctr"/>
            <a:r>
              <a:rPr lang="fr-FR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FAMILLE E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671484" y="1338740"/>
          <a:ext cx="9833129" cy="245651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833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5651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fr-FR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Calibri" pitchFamily="34" charset="0"/>
                        </a:rPr>
                        <a:t>C’EST </a:t>
                      </a:r>
                      <a:r>
                        <a:rPr lang="fr-FR" sz="28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Calibri" pitchFamily="34" charset="0"/>
                        </a:rPr>
                        <a:t>L’OBLIGATION MINIMALE </a:t>
                      </a:r>
                      <a:r>
                        <a:rPr lang="fr-FR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Calibri" pitchFamily="34" charset="0"/>
                        </a:rPr>
                        <a:t>DU VENDEUR. IL DOIT METTRE À LA DISPOSITION DU TRANSPORTEUR DÉSIGNÉ PAR L’ACHETEUR LES MARCHANDISES </a:t>
                      </a:r>
                      <a:r>
                        <a:rPr lang="fr-FR" sz="28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Calibri" pitchFamily="34" charset="0"/>
                        </a:rPr>
                        <a:t>EMBALLÉES OU NON </a:t>
                      </a:r>
                      <a:r>
                        <a:rPr lang="fr-FR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Calibri" pitchFamily="34" charset="0"/>
                        </a:rPr>
                        <a:t>AU DOMICILE DU VENDEUR.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Flèche droite rayée 6"/>
          <p:cNvSpPr/>
          <p:nvPr/>
        </p:nvSpPr>
        <p:spPr>
          <a:xfrm>
            <a:off x="412957" y="4689987"/>
            <a:ext cx="1995946" cy="1120878"/>
          </a:xfrm>
          <a:prstGeom prst="stripedRightArrow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4483510" y="4729316"/>
            <a:ext cx="7021103" cy="104222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EMBALLER LES MARCHANDISES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01298" y="4729316"/>
            <a:ext cx="1236406" cy="104222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399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71485" y="399522"/>
            <a:ext cx="9833128" cy="753385"/>
          </a:xfrm>
          <a:solidFill>
            <a:srgbClr val="003300"/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/>
          <a:lstStyle/>
          <a:p>
            <a:pPr algn="ctr"/>
            <a:r>
              <a:rPr lang="fr-FR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FAMILLE F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671484" y="1338740"/>
          <a:ext cx="9833129" cy="245651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833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5651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fr-FR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Calibri" pitchFamily="34" charset="0"/>
                        </a:rPr>
                        <a:t>LE VENDEUR NE SUPPORTE </a:t>
                      </a:r>
                      <a:r>
                        <a:rPr lang="fr-FR" sz="28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Calibri" pitchFamily="34" charset="0"/>
                        </a:rPr>
                        <a:t>NI LES RISQUES NI LES FRAIS DU TRANSPORT PRINCIPAL</a:t>
                      </a:r>
                      <a:r>
                        <a:rPr lang="fr-FR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Calibri" pitchFamily="34" charset="0"/>
                        </a:rPr>
                        <a:t>. IL DOIT METTRE À LA DISPOSITION DU TRANSPORTEUR DÉSIGNÉ PAR L’ACHETEUR LES MARCHANDISES </a:t>
                      </a:r>
                      <a:r>
                        <a:rPr lang="fr-FR" sz="28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Calibri" pitchFamily="34" charset="0"/>
                        </a:rPr>
                        <a:t>DÉDOUANÉES À L’EXPORTATION </a:t>
                      </a:r>
                      <a:r>
                        <a:rPr lang="fr-FR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Calibri" pitchFamily="34" charset="0"/>
                        </a:rPr>
                        <a:t>AU LIEU CONVENU (PORT, AÉROPORT, …). 	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9" name="Flèche droite rayée 8"/>
          <p:cNvSpPr/>
          <p:nvPr/>
        </p:nvSpPr>
        <p:spPr>
          <a:xfrm>
            <a:off x="412957" y="4689987"/>
            <a:ext cx="1995946" cy="1120878"/>
          </a:xfrm>
          <a:prstGeom prst="stripedRightArrow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4483510" y="4277032"/>
            <a:ext cx="7021103" cy="69809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EMBALLER LES MARCHANDISES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1298" y="4277032"/>
            <a:ext cx="1236406" cy="69809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3510" y="5137354"/>
            <a:ext cx="7021103" cy="1047136"/>
          </a:xfrm>
          <a:prstGeom prst="rect">
            <a:avLst/>
          </a:prstGeom>
          <a:solidFill>
            <a:srgbClr val="00B05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DÉDOUANER LES MARCHANDISES À L’EXPORTATION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01298" y="5137354"/>
            <a:ext cx="1236406" cy="1047136"/>
          </a:xfrm>
          <a:prstGeom prst="rect">
            <a:avLst/>
          </a:prstGeom>
          <a:solidFill>
            <a:srgbClr val="00B05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309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71485" y="399522"/>
            <a:ext cx="9833128" cy="753385"/>
          </a:xfrm>
          <a:solidFill>
            <a:srgbClr val="003300"/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/>
          <a:lstStyle/>
          <a:p>
            <a:pPr algn="ctr"/>
            <a:r>
              <a:rPr lang="fr-FR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FAMILLE C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671484" y="1338741"/>
          <a:ext cx="9833129" cy="133563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833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563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fr-FR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Calibri" pitchFamily="34" charset="0"/>
                        </a:rPr>
                        <a:t>L</a:t>
                      </a:r>
                      <a:r>
                        <a:rPr lang="fr-FR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cs typeface="Calibri" pitchFamily="34" charset="0"/>
                        </a:rPr>
                        <a:t>E VENDEUR SUPPORTE</a:t>
                      </a:r>
                      <a:r>
                        <a:rPr lang="fr-FR" sz="28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cs typeface="Calibri" pitchFamily="34" charset="0"/>
                        </a:rPr>
                        <a:t> </a:t>
                      </a:r>
                      <a:r>
                        <a:rPr lang="fr-FR" sz="28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cs typeface="Calibri" pitchFamily="34" charset="0"/>
                        </a:rPr>
                        <a:t>LES FRAIS DU TRANSPORT PRINCIPAL</a:t>
                      </a:r>
                      <a:r>
                        <a:rPr lang="fr-FR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cs typeface="Calibri" pitchFamily="34" charset="0"/>
                        </a:rPr>
                        <a:t> MAIS </a:t>
                      </a:r>
                      <a:r>
                        <a:rPr lang="fr-FR" sz="28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cs typeface="Calibri" pitchFamily="34" charset="0"/>
                        </a:rPr>
                        <a:t>N’EN SUPPORTE LES RISQUES</a:t>
                      </a:r>
                      <a:r>
                        <a:rPr lang="fr-FR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cs typeface="Calibri" pitchFamily="34" charset="0"/>
                        </a:rPr>
                        <a:t>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9" name="Flèche droite rayée 8"/>
          <p:cNvSpPr/>
          <p:nvPr/>
        </p:nvSpPr>
        <p:spPr>
          <a:xfrm>
            <a:off x="412957" y="4016476"/>
            <a:ext cx="1995946" cy="1120878"/>
          </a:xfrm>
          <a:prstGeom prst="stripedRightArrow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4483510" y="2905431"/>
            <a:ext cx="7021103" cy="437537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EMBALLER LES MARCHANDISES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1298" y="2905431"/>
            <a:ext cx="1236406" cy="437537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3510" y="3559275"/>
            <a:ext cx="7021103" cy="766918"/>
          </a:xfrm>
          <a:prstGeom prst="rect">
            <a:avLst/>
          </a:prstGeom>
          <a:solidFill>
            <a:srgbClr val="00B05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DÉDOUANER LES MARCHANDISES À L’EXPORTATION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01298" y="3559275"/>
            <a:ext cx="1236406" cy="766918"/>
          </a:xfrm>
          <a:prstGeom prst="rect">
            <a:avLst/>
          </a:prstGeom>
          <a:solidFill>
            <a:srgbClr val="00B05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3510" y="4542500"/>
            <a:ext cx="7021103" cy="973397"/>
          </a:xfrm>
          <a:prstGeom prst="rect">
            <a:avLst/>
          </a:prstGeom>
          <a:solidFill>
            <a:srgbClr val="0000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TRANSPORTER LES MARCHANDISES DE LA FRONTIÈRE DÉPART À LA FRONTIÈRE ARRIVÉE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01298" y="4542501"/>
            <a:ext cx="1236406" cy="973396"/>
          </a:xfrm>
          <a:prstGeom prst="rect">
            <a:avLst/>
          </a:prstGeom>
          <a:solidFill>
            <a:srgbClr val="0000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3510" y="5732203"/>
            <a:ext cx="7021103" cy="973397"/>
          </a:xfrm>
          <a:prstGeom prst="rect">
            <a:avLst/>
          </a:prstGeom>
          <a:solidFill>
            <a:srgbClr val="6633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ASSURER LES MARCHANDISES SI L’INCOTERM CONTIENT « I » (CIP OU CIF)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01298" y="5732204"/>
            <a:ext cx="1236406" cy="973396"/>
          </a:xfrm>
          <a:prstGeom prst="rect">
            <a:avLst/>
          </a:prstGeom>
          <a:solidFill>
            <a:srgbClr val="6633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3284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71485" y="141942"/>
            <a:ext cx="9833128" cy="753385"/>
          </a:xfrm>
          <a:solidFill>
            <a:srgbClr val="003300"/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/>
          <a:lstStyle/>
          <a:p>
            <a:pPr algn="ctr"/>
            <a:r>
              <a:rPr lang="fr-FR" b="1" cap="sm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FAMILLE D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118452"/>
              </p:ext>
            </p:extLst>
          </p:nvPr>
        </p:nvGraphicFramePr>
        <p:xfrm>
          <a:off x="1671484" y="1081161"/>
          <a:ext cx="9833129" cy="133563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833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563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fr-FR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Calibri" pitchFamily="34" charset="0"/>
                        </a:rPr>
                        <a:t>LE VENDEUR SUPPORTE </a:t>
                      </a:r>
                      <a:r>
                        <a:rPr lang="fr-FR" sz="28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Calibri" pitchFamily="34" charset="0"/>
                        </a:rPr>
                        <a:t>LES RISQUES ET LES FRAIS DU TRANSPORT PRINCIPAL</a:t>
                      </a:r>
                      <a:r>
                        <a:rPr lang="fr-FR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Calibri" pitchFamily="34" charset="0"/>
                        </a:rPr>
                        <a:t>. </a:t>
                      </a:r>
                      <a:endParaRPr lang="fr-FR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cs typeface="Calibri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9" name="Flèche droite rayée 8"/>
          <p:cNvSpPr/>
          <p:nvPr/>
        </p:nvSpPr>
        <p:spPr>
          <a:xfrm>
            <a:off x="412957" y="4016476"/>
            <a:ext cx="1995946" cy="1120878"/>
          </a:xfrm>
          <a:prstGeom prst="stripedRightArrow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4483510" y="2531940"/>
            <a:ext cx="7021103" cy="437537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EMBALLER LES MARCHANDISES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1298" y="2531940"/>
            <a:ext cx="1236406" cy="437537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3510" y="3121389"/>
            <a:ext cx="7021103" cy="766918"/>
          </a:xfrm>
          <a:prstGeom prst="rect">
            <a:avLst/>
          </a:prstGeom>
          <a:solidFill>
            <a:srgbClr val="00B05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DÉDOUANER LES MARCHANDISES À L’EXPORTATION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01298" y="3121389"/>
            <a:ext cx="1236406" cy="766918"/>
          </a:xfrm>
          <a:prstGeom prst="rect">
            <a:avLst/>
          </a:prstGeom>
          <a:solidFill>
            <a:srgbClr val="00B05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3510" y="4065977"/>
            <a:ext cx="7021103" cy="973397"/>
          </a:xfrm>
          <a:prstGeom prst="rect">
            <a:avLst/>
          </a:prstGeom>
          <a:solidFill>
            <a:srgbClr val="0000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TRANSPORTER LES MARCHANDISES DE LA FRONTIÈRE DÉPART À LA FRONTIÈRE ARRIVÉE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01298" y="4065978"/>
            <a:ext cx="1236406" cy="973396"/>
          </a:xfrm>
          <a:prstGeom prst="rect">
            <a:avLst/>
          </a:prstGeom>
          <a:solidFill>
            <a:srgbClr val="0000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3510" y="5191285"/>
            <a:ext cx="7021103" cy="599771"/>
          </a:xfrm>
          <a:prstGeom prst="rect">
            <a:avLst/>
          </a:prstGeom>
          <a:solidFill>
            <a:srgbClr val="6633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ASSURER LES MARCHANDISES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01298" y="5191286"/>
            <a:ext cx="1236406" cy="599770"/>
          </a:xfrm>
          <a:prstGeom prst="rect">
            <a:avLst/>
          </a:prstGeom>
          <a:solidFill>
            <a:srgbClr val="6633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3510" y="5942967"/>
            <a:ext cx="7021103" cy="760485"/>
          </a:xfrm>
          <a:prstGeom prst="rect">
            <a:avLst/>
          </a:prstGeom>
          <a:solidFill>
            <a:srgbClr val="CC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DÉCHARGER LES MARCHANDISES À LA FRONTIÈRE ARRIVÉE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01298" y="5942968"/>
            <a:ext cx="1236406" cy="760484"/>
          </a:xfrm>
          <a:prstGeom prst="rect">
            <a:avLst/>
          </a:prstGeom>
          <a:solidFill>
            <a:srgbClr val="CC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1409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11579" y="2485866"/>
            <a:ext cx="9677028" cy="2203880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Calibri" pitchFamily="34" charset="0"/>
              </a:rPr>
              <a:t>SECTION 3 : PRÉSENTATION DÉTAILLÉE DES INCOTERMS 2020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60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66737" y="330129"/>
            <a:ext cx="8937875" cy="1574871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EXW</a:t>
            </a:r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l’usine (insérer le lieu de livraison désigné)</a:t>
            </a:r>
            <a:b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 Works (insert </a:t>
            </a:r>
            <a:r>
              <a:rPr lang="fr-FR" sz="28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place of </a:t>
            </a:r>
            <a:r>
              <a:rPr lang="fr-FR" sz="28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delivry</a:t>
            </a:r>
            <a:r>
              <a:rPr lang="fr-F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000637" y="4027409"/>
          <a:ext cx="4201824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Vendeur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</a:t>
                      </a:r>
                    </a:p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7018791" y="4004881"/>
          <a:ext cx="44858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1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 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Acheteur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2" y="2903498"/>
            <a:ext cx="968524" cy="96852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781" y="2266354"/>
            <a:ext cx="1095763" cy="54788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708" y="2903498"/>
            <a:ext cx="968524" cy="96852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567" y="2266354"/>
            <a:ext cx="1095763" cy="54788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55" y="2960591"/>
            <a:ext cx="997944" cy="854337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39" y="2960591"/>
            <a:ext cx="997944" cy="854337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807" y="3369293"/>
            <a:ext cx="832458" cy="832458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395" y="4201751"/>
            <a:ext cx="682993" cy="682993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433" y="2539961"/>
            <a:ext cx="936275" cy="936275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298" y="3369293"/>
            <a:ext cx="832458" cy="832458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079" y="4201750"/>
            <a:ext cx="682993" cy="682993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155" y="2553679"/>
            <a:ext cx="936275" cy="936275"/>
          </a:xfrm>
          <a:prstGeom prst="rect">
            <a:avLst/>
          </a:prstGeom>
        </p:spPr>
      </p:pic>
      <p:cxnSp>
        <p:nvCxnSpPr>
          <p:cNvPr id="25" name="Connecteur droit 24"/>
          <p:cNvCxnSpPr/>
          <p:nvPr/>
        </p:nvCxnSpPr>
        <p:spPr>
          <a:xfrm>
            <a:off x="6083133" y="2727296"/>
            <a:ext cx="0" cy="2808000"/>
          </a:xfrm>
          <a:prstGeom prst="line">
            <a:avLst/>
          </a:prstGeom>
          <a:ln>
            <a:solidFill>
              <a:schemeClr val="accent1">
                <a:shade val="9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45" y="2903498"/>
            <a:ext cx="1044976" cy="1103756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737" y="2882232"/>
            <a:ext cx="1044976" cy="110375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974445" y="4976037"/>
            <a:ext cx="1120169" cy="446568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4445" y="5622613"/>
            <a:ext cx="1120169" cy="44656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Risques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4444" y="6269189"/>
            <a:ext cx="1120169" cy="446568"/>
          </a:xfrm>
          <a:prstGeom prst="rect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Docs.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5227661" y="5613991"/>
            <a:ext cx="170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7217545" y="5183590"/>
            <a:ext cx="4607511" cy="1200329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 et les remettre au transporteur international désigné par l’acheteur au domicile du vendeur.</a:t>
            </a:r>
          </a:p>
        </p:txBody>
      </p:sp>
    </p:spTree>
    <p:extLst>
      <p:ext uri="{BB962C8B-B14F-4D97-AF65-F5344CB8AC3E}">
        <p14:creationId xmlns:p14="http://schemas.microsoft.com/office/powerpoint/2010/main" val="190897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 animBg="1"/>
      <p:bldP spid="30" grpId="0" animBg="1"/>
      <p:bldP spid="31" grpId="0" animBg="1"/>
      <p:bldP spid="32" grpId="0"/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66737" y="330129"/>
            <a:ext cx="8937875" cy="1574871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EXW</a:t>
            </a:r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l’usine (insérer le lieu de livraison désigné)</a:t>
            </a:r>
            <a:b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 Works (insert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place of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delivry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408372" y="2227325"/>
            <a:ext cx="5149049" cy="1323439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 et les remettre au transporteur international désigné par l’acheteur au domicile du vendeur.</a:t>
            </a:r>
          </a:p>
        </p:txBody>
      </p:sp>
      <p:sp>
        <p:nvSpPr>
          <p:cNvPr id="7" name="Flèche droite à entaille 6"/>
          <p:cNvSpPr/>
          <p:nvPr/>
        </p:nvSpPr>
        <p:spPr>
          <a:xfrm>
            <a:off x="408372" y="3873089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2566737" y="3979313"/>
            <a:ext cx="2990684" cy="40011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Emballage</a:t>
            </a:r>
          </a:p>
        </p:txBody>
      </p:sp>
      <p:sp>
        <p:nvSpPr>
          <p:cNvPr id="34" name="Flèche droite à entaille 33"/>
          <p:cNvSpPr/>
          <p:nvPr/>
        </p:nvSpPr>
        <p:spPr>
          <a:xfrm>
            <a:off x="408372" y="4914197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/>
          <p:cNvSpPr txBox="1"/>
          <p:nvPr/>
        </p:nvSpPr>
        <p:spPr>
          <a:xfrm>
            <a:off x="2566737" y="5020421"/>
            <a:ext cx="8814436" cy="40011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EXW = Prix Sortie Usine + Prix d’emballage</a:t>
            </a:r>
          </a:p>
        </p:txBody>
      </p:sp>
    </p:spTree>
    <p:extLst>
      <p:ext uri="{BB962C8B-B14F-4D97-AF65-F5344CB8AC3E}">
        <p14:creationId xmlns:p14="http://schemas.microsoft.com/office/powerpoint/2010/main" val="346418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7" grpId="0" animBg="1"/>
      <p:bldP spid="33" grpId="0" animBg="1"/>
      <p:bldP spid="34" grpId="0" animBg="1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98922" y="349605"/>
            <a:ext cx="9952446" cy="1280890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FCA</a:t>
            </a:r>
            <a:b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Franco Transporteur (insérer le lieu de livraison désigné)</a:t>
            </a:r>
            <a:b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 Carrier(insert </a:t>
            </a:r>
            <a:r>
              <a:rPr lang="fr-FR" sz="28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place of </a:t>
            </a:r>
            <a:r>
              <a:rPr lang="fr-FR" sz="28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delivry</a:t>
            </a:r>
            <a:r>
              <a:rPr lang="fr-F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000637" y="4027409"/>
          <a:ext cx="4201824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Vendeur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</a:t>
                      </a:r>
                    </a:p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7018791" y="4004881"/>
          <a:ext cx="44858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1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 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Acheteur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2" y="2903498"/>
            <a:ext cx="968524" cy="96852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781" y="2266354"/>
            <a:ext cx="1095763" cy="54788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708" y="2903498"/>
            <a:ext cx="968524" cy="96852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567" y="2266354"/>
            <a:ext cx="1095763" cy="54788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55" y="2960591"/>
            <a:ext cx="997944" cy="854337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39" y="2960591"/>
            <a:ext cx="997944" cy="854337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807" y="3369293"/>
            <a:ext cx="832458" cy="832458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395" y="4201751"/>
            <a:ext cx="682993" cy="682993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433" y="2539961"/>
            <a:ext cx="936275" cy="936275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298" y="3369293"/>
            <a:ext cx="832458" cy="832458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079" y="4201750"/>
            <a:ext cx="682993" cy="682993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155" y="2553679"/>
            <a:ext cx="936275" cy="936275"/>
          </a:xfrm>
          <a:prstGeom prst="rect">
            <a:avLst/>
          </a:prstGeom>
        </p:spPr>
      </p:pic>
      <p:cxnSp>
        <p:nvCxnSpPr>
          <p:cNvPr id="25" name="Connecteur droit 24"/>
          <p:cNvCxnSpPr/>
          <p:nvPr/>
        </p:nvCxnSpPr>
        <p:spPr>
          <a:xfrm>
            <a:off x="6083133" y="2727296"/>
            <a:ext cx="0" cy="2808000"/>
          </a:xfrm>
          <a:prstGeom prst="line">
            <a:avLst/>
          </a:prstGeom>
          <a:ln>
            <a:solidFill>
              <a:schemeClr val="accent1">
                <a:shade val="9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45" y="2903498"/>
            <a:ext cx="1044976" cy="1103756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737" y="2882232"/>
            <a:ext cx="1044976" cy="110375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974445" y="4976037"/>
            <a:ext cx="4231950" cy="446568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4445" y="5622613"/>
            <a:ext cx="2162160" cy="44656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Risques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4444" y="6269189"/>
            <a:ext cx="4231951" cy="446568"/>
          </a:xfrm>
          <a:prstGeom prst="rect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Docs.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227661" y="5475770"/>
            <a:ext cx="170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7217545" y="5183590"/>
            <a:ext cx="4607511" cy="1200329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 et les remettre au transporteur international désigné par l’acheteur au lieu convenu.</a:t>
            </a:r>
          </a:p>
        </p:txBody>
      </p:sp>
    </p:spTree>
    <p:extLst>
      <p:ext uri="{BB962C8B-B14F-4D97-AF65-F5344CB8AC3E}">
        <p14:creationId xmlns:p14="http://schemas.microsoft.com/office/powerpoint/2010/main" val="366924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 animBg="1"/>
      <p:bldP spid="30" grpId="0" animBg="1"/>
      <p:bldP spid="31" grpId="0" animBg="1"/>
      <p:bldP spid="24" grpId="0"/>
      <p:bldP spid="2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40023" y="330129"/>
            <a:ext cx="9764589" cy="1574871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FCA</a:t>
            </a:r>
            <a:b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Franco Transporteur (insérer le lieu de livraison désigné)</a:t>
            </a:r>
            <a:b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 Carrier(insert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place of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delivry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fr-FR" sz="20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177553" y="2200692"/>
            <a:ext cx="5149049" cy="1323439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 et les remettre au transporteur international désigné par l’acheteur au lieu convenu.</a:t>
            </a:r>
          </a:p>
        </p:txBody>
      </p:sp>
      <p:sp>
        <p:nvSpPr>
          <p:cNvPr id="7" name="Flèche droite à entaille 6"/>
          <p:cNvSpPr/>
          <p:nvPr/>
        </p:nvSpPr>
        <p:spPr>
          <a:xfrm>
            <a:off x="177553" y="3846456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2061099" y="3921946"/>
            <a:ext cx="1925364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Emballage</a:t>
            </a:r>
          </a:p>
        </p:txBody>
      </p:sp>
      <p:sp>
        <p:nvSpPr>
          <p:cNvPr id="34" name="Flèche droite à entaille 33"/>
          <p:cNvSpPr/>
          <p:nvPr/>
        </p:nvSpPr>
        <p:spPr>
          <a:xfrm>
            <a:off x="177553" y="4887564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/>
          <p:cNvSpPr txBox="1"/>
          <p:nvPr/>
        </p:nvSpPr>
        <p:spPr>
          <a:xfrm>
            <a:off x="2061098" y="5013029"/>
            <a:ext cx="9722031" cy="707886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FCA = EXW + Frais de chargement au domicile du vendeur + Frais de préacheminement + Frais de dédouanement à l’exportation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7560" y="3914637"/>
            <a:ext cx="2644880" cy="646331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Chargement au domicile du vendeur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7093537" y="3914637"/>
            <a:ext cx="2644880" cy="369332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Préacheminement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9996425" y="3921946"/>
            <a:ext cx="1786705" cy="646331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Dédouanement Export</a:t>
            </a:r>
          </a:p>
        </p:txBody>
      </p:sp>
    </p:spTree>
    <p:extLst>
      <p:ext uri="{BB962C8B-B14F-4D97-AF65-F5344CB8AC3E}">
        <p14:creationId xmlns:p14="http://schemas.microsoft.com/office/powerpoint/2010/main" val="1446372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7" grpId="0" animBg="1"/>
      <p:bldP spid="33" grpId="0" animBg="1"/>
      <p:bldP spid="34" grpId="0" animBg="1"/>
      <p:bldP spid="35" grpId="0" animBg="1"/>
      <p:bldP spid="9" grpId="0" animBg="1"/>
      <p:bldP spid="10" grpId="0" animBg="1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36295" y="368968"/>
            <a:ext cx="10202779" cy="1536376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CPT</a:t>
            </a:r>
            <a:b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 payé jusqu’à (insérer le lieu de destination désigné)</a:t>
            </a:r>
            <a:b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8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Carriage</a:t>
            </a:r>
            <a:r>
              <a:rPr lang="fr-F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8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Paid</a:t>
            </a:r>
            <a:r>
              <a:rPr lang="fr-F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To(insert </a:t>
            </a:r>
            <a:r>
              <a:rPr lang="fr-FR" sz="28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place of destination)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000637" y="4027409"/>
          <a:ext cx="4201824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Vendeur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</a:t>
                      </a:r>
                    </a:p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7018791" y="4004881"/>
          <a:ext cx="44858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1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 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Acheteur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2" y="2903498"/>
            <a:ext cx="968524" cy="96852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781" y="2266354"/>
            <a:ext cx="1095763" cy="54788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708" y="2903498"/>
            <a:ext cx="968524" cy="96852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567" y="2266354"/>
            <a:ext cx="1095763" cy="54788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55" y="2960591"/>
            <a:ext cx="997944" cy="854337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39" y="2960591"/>
            <a:ext cx="997944" cy="854337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807" y="3369293"/>
            <a:ext cx="832458" cy="832458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395" y="4201751"/>
            <a:ext cx="682993" cy="682993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433" y="2539961"/>
            <a:ext cx="936275" cy="936275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298" y="3369293"/>
            <a:ext cx="832458" cy="832458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079" y="4201750"/>
            <a:ext cx="682993" cy="682993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155" y="2553679"/>
            <a:ext cx="936275" cy="936275"/>
          </a:xfrm>
          <a:prstGeom prst="rect">
            <a:avLst/>
          </a:prstGeom>
        </p:spPr>
      </p:pic>
      <p:cxnSp>
        <p:nvCxnSpPr>
          <p:cNvPr id="25" name="Connecteur droit 24"/>
          <p:cNvCxnSpPr/>
          <p:nvPr/>
        </p:nvCxnSpPr>
        <p:spPr>
          <a:xfrm>
            <a:off x="6083133" y="2727296"/>
            <a:ext cx="0" cy="2808000"/>
          </a:xfrm>
          <a:prstGeom prst="line">
            <a:avLst/>
          </a:prstGeom>
          <a:ln>
            <a:solidFill>
              <a:schemeClr val="accent1">
                <a:shade val="9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45" y="2903498"/>
            <a:ext cx="1044976" cy="1103756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737" y="2882232"/>
            <a:ext cx="1044976" cy="110375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974444" y="4976037"/>
            <a:ext cx="5575211" cy="446568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4445" y="5622613"/>
            <a:ext cx="4565118" cy="44656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Risques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4444" y="6269189"/>
            <a:ext cx="5575211" cy="446568"/>
          </a:xfrm>
          <a:prstGeom prst="rect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Docs.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168703" y="2285568"/>
            <a:ext cx="170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7217545" y="5183590"/>
            <a:ext cx="4607511" cy="1477328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 et les remettre à l’acheteur ou son représentant sur le moyen de transport international à la frontière arrivée. </a:t>
            </a:r>
          </a:p>
        </p:txBody>
      </p:sp>
    </p:spTree>
    <p:extLst>
      <p:ext uri="{BB962C8B-B14F-4D97-AF65-F5344CB8AC3E}">
        <p14:creationId xmlns:p14="http://schemas.microsoft.com/office/powerpoint/2010/main" val="251143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 animBg="1"/>
      <p:bldP spid="30" grpId="0" animBg="1"/>
      <p:bldP spid="31" grpId="0" animBg="1"/>
      <p:bldP spid="24" grpId="0"/>
      <p:bldP spid="2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40023" y="330130"/>
            <a:ext cx="9764589" cy="1418502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CPT</a:t>
            </a:r>
            <a:b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 payé jusqu’à (insérer le lieu de destination désigné)</a:t>
            </a:r>
            <a:b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Carriage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Paid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To(insert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place of destination)</a:t>
            </a:r>
            <a:endParaRPr lang="fr-FR" sz="18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177553" y="1763179"/>
            <a:ext cx="5149049" cy="1631216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 et les remettre à l’acheteur ou son représentant sur le moyen de transport international à la frontière arrivée. </a:t>
            </a:r>
          </a:p>
        </p:txBody>
      </p:sp>
      <p:sp>
        <p:nvSpPr>
          <p:cNvPr id="7" name="Flèche droite à entaille 6"/>
          <p:cNvSpPr/>
          <p:nvPr/>
        </p:nvSpPr>
        <p:spPr>
          <a:xfrm>
            <a:off x="177553" y="3846456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2061099" y="3921946"/>
            <a:ext cx="1383437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Emballage</a:t>
            </a:r>
          </a:p>
        </p:txBody>
      </p:sp>
      <p:sp>
        <p:nvSpPr>
          <p:cNvPr id="34" name="Flèche droite à entaille 33"/>
          <p:cNvSpPr/>
          <p:nvPr/>
        </p:nvSpPr>
        <p:spPr>
          <a:xfrm>
            <a:off x="177553" y="4887564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/>
          <p:cNvSpPr txBox="1"/>
          <p:nvPr/>
        </p:nvSpPr>
        <p:spPr>
          <a:xfrm>
            <a:off x="2061098" y="5013029"/>
            <a:ext cx="9722031" cy="40011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CPT = FCA + Frais de transport international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596936" y="3921946"/>
            <a:ext cx="1900433" cy="92333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Chargement au domicile du vendeur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5672100" y="3921946"/>
            <a:ext cx="1953818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Préacheminement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7800648" y="3919962"/>
            <a:ext cx="1725091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Dédouanement Export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9829311" y="3921946"/>
            <a:ext cx="1953818" cy="646331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 International</a:t>
            </a:r>
          </a:p>
        </p:txBody>
      </p:sp>
    </p:spTree>
    <p:extLst>
      <p:ext uri="{BB962C8B-B14F-4D97-AF65-F5344CB8AC3E}">
        <p14:creationId xmlns:p14="http://schemas.microsoft.com/office/powerpoint/2010/main" val="15228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7" grpId="0" animBg="1"/>
      <p:bldP spid="33" grpId="0" animBg="1"/>
      <p:bldP spid="34" grpId="0" animBg="1"/>
      <p:bldP spid="35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99403" y="351488"/>
            <a:ext cx="10543953" cy="1280890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CIP</a:t>
            </a:r>
            <a:b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 payé, assurance comprise jusqu’à (insérer le lieu de destination désigné)</a:t>
            </a:r>
            <a:br>
              <a:rPr lang="fr-FR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0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Carriage</a:t>
            </a:r>
            <a:r>
              <a:rPr lang="fr-FR" sz="20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fr-FR" sz="20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Insurance</a:t>
            </a:r>
            <a:r>
              <a:rPr lang="fr-FR" sz="20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0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Paid</a:t>
            </a:r>
            <a:r>
              <a:rPr lang="fr-FR" sz="20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To(insert </a:t>
            </a:r>
            <a:r>
              <a:rPr lang="fr-FR" sz="20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0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place of destination)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000637" y="4027409"/>
          <a:ext cx="4201824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Vendeur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</a:t>
                      </a:r>
                    </a:p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7018791" y="4004881"/>
          <a:ext cx="44858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1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 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Acheteur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2" y="2903498"/>
            <a:ext cx="968524" cy="96852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781" y="2266354"/>
            <a:ext cx="1095763" cy="54788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708" y="2903498"/>
            <a:ext cx="968524" cy="96852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567" y="2266354"/>
            <a:ext cx="1095763" cy="54788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55" y="2960591"/>
            <a:ext cx="997944" cy="854337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39" y="2960591"/>
            <a:ext cx="997944" cy="854337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807" y="3369293"/>
            <a:ext cx="832458" cy="832458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395" y="4201751"/>
            <a:ext cx="682993" cy="682993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433" y="2539961"/>
            <a:ext cx="936275" cy="936275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298" y="3369293"/>
            <a:ext cx="832458" cy="832458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079" y="4201750"/>
            <a:ext cx="682993" cy="682993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155" y="2553679"/>
            <a:ext cx="936275" cy="936275"/>
          </a:xfrm>
          <a:prstGeom prst="rect">
            <a:avLst/>
          </a:prstGeom>
        </p:spPr>
      </p:pic>
      <p:cxnSp>
        <p:nvCxnSpPr>
          <p:cNvPr id="25" name="Connecteur droit 24"/>
          <p:cNvCxnSpPr/>
          <p:nvPr/>
        </p:nvCxnSpPr>
        <p:spPr>
          <a:xfrm>
            <a:off x="6083133" y="2727296"/>
            <a:ext cx="0" cy="2808000"/>
          </a:xfrm>
          <a:prstGeom prst="line">
            <a:avLst/>
          </a:prstGeom>
          <a:ln>
            <a:solidFill>
              <a:schemeClr val="accent1">
                <a:shade val="9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45" y="2903498"/>
            <a:ext cx="1044976" cy="1103756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737" y="2882232"/>
            <a:ext cx="1044976" cy="110375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974444" y="4976037"/>
            <a:ext cx="5575211" cy="446568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4445" y="5622613"/>
            <a:ext cx="4565118" cy="44656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Risques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4444" y="6269189"/>
            <a:ext cx="5575211" cy="446568"/>
          </a:xfrm>
          <a:prstGeom prst="rect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Docs.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168703" y="2285568"/>
            <a:ext cx="170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7217545" y="5183590"/>
            <a:ext cx="4607511" cy="1477328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l’exportation, les assurer et les remettre à l’acheteur ou son représentant sur le moyen de transport international à la frontière arrivée. </a:t>
            </a:r>
          </a:p>
        </p:txBody>
      </p:sp>
    </p:spTree>
    <p:extLst>
      <p:ext uri="{BB962C8B-B14F-4D97-AF65-F5344CB8AC3E}">
        <p14:creationId xmlns:p14="http://schemas.microsoft.com/office/powerpoint/2010/main" val="279735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 animBg="1"/>
      <p:bldP spid="30" grpId="0" animBg="1"/>
      <p:bldP spid="31" grpId="0" animBg="1"/>
      <p:bldP spid="24" grpId="0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40023" y="330130"/>
            <a:ext cx="9764589" cy="1418502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CIP</a:t>
            </a:r>
            <a:b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 payé, assurance comprise jusqu’à (insérer le lieu de destination désigné)</a:t>
            </a:r>
            <a:br>
              <a:rPr lang="fr-FR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0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Carriage</a:t>
            </a:r>
            <a:r>
              <a:rPr lang="fr-FR" sz="20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fr-FR" sz="20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Insurance</a:t>
            </a:r>
            <a:r>
              <a:rPr lang="fr-FR" sz="20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0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Paid</a:t>
            </a:r>
            <a:r>
              <a:rPr lang="fr-FR" sz="20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To(insert </a:t>
            </a:r>
            <a:r>
              <a:rPr lang="fr-FR" sz="20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0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place of destination)</a:t>
            </a:r>
            <a:endParaRPr lang="fr-FR" sz="12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177553" y="1763179"/>
            <a:ext cx="5149049" cy="1631216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l’exportation, les assurer et les remettre à l’acheteur ou son représentant sur le moyen de transport international à la frontière arrivée. </a:t>
            </a:r>
          </a:p>
        </p:txBody>
      </p:sp>
      <p:sp>
        <p:nvSpPr>
          <p:cNvPr id="7" name="Flèche droite à entaille 6"/>
          <p:cNvSpPr/>
          <p:nvPr/>
        </p:nvSpPr>
        <p:spPr>
          <a:xfrm>
            <a:off x="177553" y="3846456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2061099" y="3921946"/>
            <a:ext cx="1383437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Emballage</a:t>
            </a:r>
          </a:p>
        </p:txBody>
      </p:sp>
      <p:sp>
        <p:nvSpPr>
          <p:cNvPr id="34" name="Flèche droite à entaille 33"/>
          <p:cNvSpPr/>
          <p:nvPr/>
        </p:nvSpPr>
        <p:spPr>
          <a:xfrm>
            <a:off x="177553" y="4887564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/>
          <p:cNvSpPr txBox="1"/>
          <p:nvPr/>
        </p:nvSpPr>
        <p:spPr>
          <a:xfrm>
            <a:off x="2061098" y="5013029"/>
            <a:ext cx="9722031" cy="40011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CIP = CPT + Assurance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596937" y="3921946"/>
            <a:ext cx="1339047" cy="92333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Chargement au domicile du vendeur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5088385" y="3919962"/>
            <a:ext cx="1720786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Préacheminement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6961572" y="3889361"/>
            <a:ext cx="1725091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Dédouanement Export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8834759" y="3880547"/>
            <a:ext cx="1633091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 International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0570608" y="3874750"/>
            <a:ext cx="1212521" cy="646331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Assurance-Transport</a:t>
            </a:r>
          </a:p>
        </p:txBody>
      </p:sp>
    </p:spTree>
    <p:extLst>
      <p:ext uri="{BB962C8B-B14F-4D97-AF65-F5344CB8AC3E}">
        <p14:creationId xmlns:p14="http://schemas.microsoft.com/office/powerpoint/2010/main" val="244857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7" grpId="0" animBg="1"/>
      <p:bldP spid="33" grpId="0" animBg="1"/>
      <p:bldP spid="34" grpId="0" animBg="1"/>
      <p:bldP spid="35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99403" y="351488"/>
            <a:ext cx="10543953" cy="1280890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DPU</a:t>
            </a:r>
            <a:b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Rendu au lieu de destination déchargé (insérer le lieu de destination désigné)</a:t>
            </a:r>
            <a:br>
              <a:rPr lang="fr-FR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0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Delivered</a:t>
            </a:r>
            <a:r>
              <a:rPr lang="fr-FR" sz="20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at Place </a:t>
            </a:r>
            <a:r>
              <a:rPr lang="fr-FR" sz="20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Unloaded</a:t>
            </a:r>
            <a:r>
              <a:rPr lang="fr-FR" sz="20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(insert </a:t>
            </a:r>
            <a:r>
              <a:rPr lang="fr-FR" sz="20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0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place of destination)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000637" y="4027409"/>
          <a:ext cx="4201824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Vendeur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</a:t>
                      </a:r>
                    </a:p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7018791" y="4004881"/>
          <a:ext cx="44858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1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 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Acheteur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2" y="2903498"/>
            <a:ext cx="968524" cy="96852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781" y="2266354"/>
            <a:ext cx="1095763" cy="54788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708" y="2903498"/>
            <a:ext cx="968524" cy="96852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567" y="2266354"/>
            <a:ext cx="1095763" cy="54788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55" y="2960591"/>
            <a:ext cx="997944" cy="854337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39" y="2960591"/>
            <a:ext cx="997944" cy="854337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807" y="3369293"/>
            <a:ext cx="832458" cy="832458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395" y="4201751"/>
            <a:ext cx="682993" cy="682993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433" y="2539961"/>
            <a:ext cx="936275" cy="936275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298" y="3369293"/>
            <a:ext cx="832458" cy="832458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079" y="4201750"/>
            <a:ext cx="682993" cy="682993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155" y="2553679"/>
            <a:ext cx="936275" cy="936275"/>
          </a:xfrm>
          <a:prstGeom prst="rect">
            <a:avLst/>
          </a:prstGeom>
        </p:spPr>
      </p:pic>
      <p:cxnSp>
        <p:nvCxnSpPr>
          <p:cNvPr id="25" name="Connecteur droit 24"/>
          <p:cNvCxnSpPr/>
          <p:nvPr/>
        </p:nvCxnSpPr>
        <p:spPr>
          <a:xfrm>
            <a:off x="6083133" y="2727296"/>
            <a:ext cx="0" cy="2808000"/>
          </a:xfrm>
          <a:prstGeom prst="line">
            <a:avLst/>
          </a:prstGeom>
          <a:ln>
            <a:solidFill>
              <a:schemeClr val="accent1">
                <a:shade val="9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45" y="2903498"/>
            <a:ext cx="1044976" cy="1103756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737" y="2882232"/>
            <a:ext cx="1044976" cy="110375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974444" y="4976037"/>
            <a:ext cx="7233891" cy="446568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4445" y="5622613"/>
            <a:ext cx="7233890" cy="44656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Risques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4445" y="6269189"/>
            <a:ext cx="5692170" cy="446568"/>
          </a:xfrm>
          <a:prstGeom prst="rect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Docs.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168703" y="2285568"/>
            <a:ext cx="170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8673105" y="5061067"/>
            <a:ext cx="3160450" cy="156966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l’exportation, les assurer et les remettre à l’acheteur ou son représentant sur le terminal à la frontière arrivée. </a:t>
            </a:r>
          </a:p>
        </p:txBody>
      </p:sp>
    </p:spTree>
    <p:extLst>
      <p:ext uri="{BB962C8B-B14F-4D97-AF65-F5344CB8AC3E}">
        <p14:creationId xmlns:p14="http://schemas.microsoft.com/office/powerpoint/2010/main" val="358316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 animBg="1"/>
      <p:bldP spid="30" grpId="0" animBg="1"/>
      <p:bldP spid="31" grpId="0" animBg="1"/>
      <p:bldP spid="24" grpId="0"/>
      <p:bldP spid="2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40023" y="330130"/>
            <a:ext cx="10306975" cy="1418502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DPU</a:t>
            </a:r>
            <a:b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Rendu au lieu de destination déchargé (insérer le lieu de destination désigné)</a:t>
            </a:r>
            <a:br>
              <a:rPr lang="fr-FR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0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Delivered</a:t>
            </a:r>
            <a:r>
              <a:rPr lang="fr-FR" sz="20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at Place </a:t>
            </a:r>
            <a:r>
              <a:rPr lang="fr-FR" sz="20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Unloaded</a:t>
            </a:r>
            <a:r>
              <a:rPr lang="fr-FR" sz="20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(insert </a:t>
            </a:r>
            <a:r>
              <a:rPr lang="fr-FR" sz="20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0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place of destination)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177553" y="1763179"/>
            <a:ext cx="5149049" cy="1631216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l’exportation, les assurer et les remettre à l’acheteur ou son représentant sur le terminal à la frontière arrivée. </a:t>
            </a:r>
          </a:p>
        </p:txBody>
      </p:sp>
      <p:sp>
        <p:nvSpPr>
          <p:cNvPr id="7" name="Flèche droite à entaille 6"/>
          <p:cNvSpPr/>
          <p:nvPr/>
        </p:nvSpPr>
        <p:spPr>
          <a:xfrm>
            <a:off x="177553" y="3846456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2061099" y="3921946"/>
            <a:ext cx="1383437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Emballage</a:t>
            </a:r>
          </a:p>
        </p:txBody>
      </p:sp>
      <p:sp>
        <p:nvSpPr>
          <p:cNvPr id="34" name="Flèche droite à entaille 33"/>
          <p:cNvSpPr/>
          <p:nvPr/>
        </p:nvSpPr>
        <p:spPr>
          <a:xfrm>
            <a:off x="64610" y="5565725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/>
          <p:cNvSpPr txBox="1"/>
          <p:nvPr/>
        </p:nvSpPr>
        <p:spPr>
          <a:xfrm>
            <a:off x="1948155" y="5691190"/>
            <a:ext cx="9722031" cy="40011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DPU = CIP </a:t>
            </a:r>
            <a:r>
              <a:rPr lang="fr-FR" sz="2000" b="1" i="1" cap="small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(ou CIF) </a:t>
            </a:r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Frais de déchargement à la frontière Arrivée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596937" y="3921946"/>
            <a:ext cx="1339047" cy="92333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Chargement au domicile du vendeur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5088385" y="3919962"/>
            <a:ext cx="1720786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Préacheminement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6961572" y="3889361"/>
            <a:ext cx="1725091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Dédouanement Export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8834759" y="3880547"/>
            <a:ext cx="1633091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 International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0570608" y="3874750"/>
            <a:ext cx="1212521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Assurance-Transport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2061099" y="5137192"/>
            <a:ext cx="4037860" cy="369332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Déchargement à la frontière Arrivée</a:t>
            </a:r>
          </a:p>
        </p:txBody>
      </p:sp>
    </p:spTree>
    <p:extLst>
      <p:ext uri="{BB962C8B-B14F-4D97-AF65-F5344CB8AC3E}">
        <p14:creationId xmlns:p14="http://schemas.microsoft.com/office/powerpoint/2010/main" val="135521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7" grpId="0" animBg="1"/>
      <p:bldP spid="33" grpId="0" animBg="1"/>
      <p:bldP spid="34" grpId="0" animBg="1"/>
      <p:bldP spid="3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96933" y="992905"/>
            <a:ext cx="10543953" cy="1280890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DAP</a:t>
            </a:r>
            <a:b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Rendu au lieu de destination (insérer le lieu de destination désigné)</a:t>
            </a:r>
            <a:b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Delivered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at Place (insert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place of destination)</a:t>
            </a:r>
            <a:endParaRPr lang="fr-FR" sz="20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000637" y="4027409"/>
          <a:ext cx="4201824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Vendeur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</a:t>
                      </a:r>
                    </a:p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7018791" y="4004881"/>
          <a:ext cx="44858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1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 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Acheteur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2" y="2903498"/>
            <a:ext cx="968524" cy="96852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781" y="2266354"/>
            <a:ext cx="1095763" cy="54788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708" y="2903498"/>
            <a:ext cx="968524" cy="96852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567" y="2266354"/>
            <a:ext cx="1095763" cy="54788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55" y="2960591"/>
            <a:ext cx="997944" cy="854337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39" y="2960591"/>
            <a:ext cx="997944" cy="854337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807" y="3369293"/>
            <a:ext cx="832458" cy="832458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395" y="4201751"/>
            <a:ext cx="682993" cy="682993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433" y="2539961"/>
            <a:ext cx="936275" cy="936275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298" y="3369293"/>
            <a:ext cx="832458" cy="832458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079" y="4201750"/>
            <a:ext cx="682993" cy="682993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155" y="2553679"/>
            <a:ext cx="936275" cy="936275"/>
          </a:xfrm>
          <a:prstGeom prst="rect">
            <a:avLst/>
          </a:prstGeom>
        </p:spPr>
      </p:pic>
      <p:cxnSp>
        <p:nvCxnSpPr>
          <p:cNvPr id="25" name="Connecteur droit 24"/>
          <p:cNvCxnSpPr/>
          <p:nvPr/>
        </p:nvCxnSpPr>
        <p:spPr>
          <a:xfrm>
            <a:off x="6083133" y="2727296"/>
            <a:ext cx="0" cy="2808000"/>
          </a:xfrm>
          <a:prstGeom prst="line">
            <a:avLst/>
          </a:prstGeom>
          <a:ln>
            <a:solidFill>
              <a:schemeClr val="accent1">
                <a:shade val="9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45" y="2903498"/>
            <a:ext cx="1044976" cy="1103756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737" y="2882232"/>
            <a:ext cx="1044976" cy="110375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974444" y="4976037"/>
            <a:ext cx="7233891" cy="446568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4445" y="5622613"/>
            <a:ext cx="9453292" cy="44656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Risques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4444" y="6269189"/>
            <a:ext cx="7233891" cy="446568"/>
          </a:xfrm>
          <a:prstGeom prst="rect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Docs.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168703" y="2285568"/>
            <a:ext cx="170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69008" y="4976037"/>
            <a:ext cx="1158729" cy="446568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269008" y="6269189"/>
            <a:ext cx="1158169" cy="446568"/>
          </a:xfrm>
          <a:prstGeom prst="rect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1496934" y="232303"/>
            <a:ext cx="10452410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l’exportation, les assurer et les remettre à l’acheteur ou son représentant au domicile de l’acheteur sur un moyen de transport terrestre. </a:t>
            </a:r>
            <a:endParaRPr lang="fr-FR" sz="1200" b="1" i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9216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 animBg="1"/>
      <p:bldP spid="30" grpId="0" animBg="1"/>
      <p:bldP spid="31" grpId="0" animBg="1"/>
      <p:bldP spid="24" grpId="0"/>
      <p:bldP spid="26" grpId="0" animBg="1"/>
      <p:bldP spid="32" grpId="0" animBg="1"/>
      <p:bldP spid="3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40023" y="330130"/>
            <a:ext cx="10147177" cy="1418502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DAP</a:t>
            </a:r>
            <a:b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Rendu au lieu de destination (insérer le lieu de destination désigné)</a:t>
            </a:r>
            <a:b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Delivered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at Place (insert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place of destination)</a:t>
            </a:r>
            <a:endParaRPr lang="fr-FR" sz="2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177553" y="1763179"/>
            <a:ext cx="5149049" cy="1631216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l’exportation, les assurer et les remettre à l’acheteur ou son représentant au domicile de l’acheteur sur un moyen de transport terrestre. </a:t>
            </a:r>
            <a:endParaRPr lang="fr-FR" sz="1400" b="1" i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Flèche droite à entaille 6"/>
          <p:cNvSpPr/>
          <p:nvPr/>
        </p:nvSpPr>
        <p:spPr>
          <a:xfrm>
            <a:off x="177553" y="3846456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2061099" y="3921946"/>
            <a:ext cx="1383437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Emballage</a:t>
            </a:r>
          </a:p>
        </p:txBody>
      </p:sp>
      <p:sp>
        <p:nvSpPr>
          <p:cNvPr id="34" name="Flèche droite à entaille 33"/>
          <p:cNvSpPr/>
          <p:nvPr/>
        </p:nvSpPr>
        <p:spPr>
          <a:xfrm>
            <a:off x="64610" y="5565725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/>
          <p:cNvSpPr txBox="1"/>
          <p:nvPr/>
        </p:nvSpPr>
        <p:spPr>
          <a:xfrm>
            <a:off x="1948155" y="5691190"/>
            <a:ext cx="9722031" cy="40011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DAP = DPU + Frais de post-acheminement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596937" y="3921946"/>
            <a:ext cx="1339047" cy="92333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Chargement au domicile du vendeur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5088385" y="3919962"/>
            <a:ext cx="1720786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Préacheminement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6961572" y="3889361"/>
            <a:ext cx="1725091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Dédouanement Export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8834759" y="3880547"/>
            <a:ext cx="1633091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 International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0570608" y="3874750"/>
            <a:ext cx="1212521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Assurance-Transport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2061099" y="5137192"/>
            <a:ext cx="4037860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Déchargement à la frontière Arrivée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6261716" y="5137192"/>
            <a:ext cx="2573043" cy="369332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Post-acheminement</a:t>
            </a:r>
          </a:p>
        </p:txBody>
      </p:sp>
    </p:spTree>
    <p:extLst>
      <p:ext uri="{BB962C8B-B14F-4D97-AF65-F5344CB8AC3E}">
        <p14:creationId xmlns:p14="http://schemas.microsoft.com/office/powerpoint/2010/main" val="1469756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7" grpId="0" animBg="1"/>
      <p:bldP spid="33" grpId="0" animBg="1"/>
      <p:bldP spid="34" grpId="0" animBg="1"/>
      <p:bldP spid="3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99403" y="992130"/>
            <a:ext cx="10543953" cy="1280890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DDP</a:t>
            </a:r>
            <a:b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Rendu droits acquittés (insérer le lieu de destination désigné)</a:t>
            </a:r>
            <a:b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Delivered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Duty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Paid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(insert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place of destination)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000637" y="4027409"/>
          <a:ext cx="4201824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Vendeur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</a:t>
                      </a:r>
                    </a:p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7018791" y="4004881"/>
          <a:ext cx="44858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1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 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Acheteur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2" y="2903498"/>
            <a:ext cx="968524" cy="96852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781" y="2266354"/>
            <a:ext cx="1095763" cy="54788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708" y="2903498"/>
            <a:ext cx="968524" cy="96852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567" y="2266354"/>
            <a:ext cx="1095763" cy="54788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55" y="2960591"/>
            <a:ext cx="997944" cy="854337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39" y="2960591"/>
            <a:ext cx="997944" cy="854337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807" y="3369293"/>
            <a:ext cx="832458" cy="832458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395" y="4201751"/>
            <a:ext cx="682993" cy="682993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433" y="2539961"/>
            <a:ext cx="936275" cy="936275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298" y="3369293"/>
            <a:ext cx="832458" cy="832458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079" y="4201750"/>
            <a:ext cx="682993" cy="682993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155" y="2553679"/>
            <a:ext cx="936275" cy="936275"/>
          </a:xfrm>
          <a:prstGeom prst="rect">
            <a:avLst/>
          </a:prstGeom>
        </p:spPr>
      </p:pic>
      <p:cxnSp>
        <p:nvCxnSpPr>
          <p:cNvPr id="25" name="Connecteur droit 24"/>
          <p:cNvCxnSpPr/>
          <p:nvPr/>
        </p:nvCxnSpPr>
        <p:spPr>
          <a:xfrm>
            <a:off x="6083133" y="2727296"/>
            <a:ext cx="0" cy="2808000"/>
          </a:xfrm>
          <a:prstGeom prst="line">
            <a:avLst/>
          </a:prstGeom>
          <a:ln>
            <a:solidFill>
              <a:schemeClr val="accent1">
                <a:shade val="9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45" y="2903498"/>
            <a:ext cx="1044976" cy="1103756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737" y="2882232"/>
            <a:ext cx="1044976" cy="110375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974444" y="4976037"/>
            <a:ext cx="9453293" cy="446568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4445" y="5622613"/>
            <a:ext cx="9453292" cy="44656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Risques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4443" y="6260811"/>
            <a:ext cx="9453293" cy="446568"/>
          </a:xfrm>
          <a:prstGeom prst="rect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Docs.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168703" y="2285568"/>
            <a:ext cx="170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1599403" y="44141"/>
            <a:ext cx="10452410" cy="92333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l’exportation, les assurer, les dédouaner à l’importation  et les remettre à l’acheteur ou son représentant au domicile de l’acheteur sur un moyen de transport terrestre. </a:t>
            </a:r>
            <a:endParaRPr lang="fr-FR" sz="1100" b="1" i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0488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 animBg="1"/>
      <p:bldP spid="30" grpId="0" animBg="1"/>
      <p:bldP spid="31" grpId="0" animBg="1"/>
      <p:bldP spid="24" grpId="0"/>
      <p:bldP spid="2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40023" y="330130"/>
            <a:ext cx="10262587" cy="1418502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DAP</a:t>
            </a:r>
            <a:b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Rendu au lieu de destination (insérer le lieu de destination désigné)</a:t>
            </a:r>
            <a:b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Delivered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at Place (insert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place of destination)</a:t>
            </a:r>
            <a:endParaRPr lang="fr-FR" sz="2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177553" y="1763179"/>
            <a:ext cx="5149049" cy="1631216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l’exportation, les assurer et les remettre à l’acheteur ou son représentant au domicile de l’acheteur sur un moyen de transport terrestre. </a:t>
            </a:r>
            <a:endParaRPr lang="fr-FR" sz="1400" b="1" i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Flèche droite à entaille 6"/>
          <p:cNvSpPr/>
          <p:nvPr/>
        </p:nvSpPr>
        <p:spPr>
          <a:xfrm>
            <a:off x="177553" y="3846456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2061099" y="3921946"/>
            <a:ext cx="1383437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Emballage</a:t>
            </a:r>
          </a:p>
        </p:txBody>
      </p:sp>
      <p:sp>
        <p:nvSpPr>
          <p:cNvPr id="34" name="Flèche droite à entaille 33"/>
          <p:cNvSpPr/>
          <p:nvPr/>
        </p:nvSpPr>
        <p:spPr>
          <a:xfrm>
            <a:off x="64610" y="5565725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/>
          <p:cNvSpPr txBox="1"/>
          <p:nvPr/>
        </p:nvSpPr>
        <p:spPr>
          <a:xfrm>
            <a:off x="1948155" y="5700068"/>
            <a:ext cx="10054455" cy="40011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DDP = DAP + Frais de dédouanement à l’importation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596937" y="3921946"/>
            <a:ext cx="1339047" cy="92333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Chargement au domicile du vendeur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5088385" y="3919962"/>
            <a:ext cx="1720786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Préacheminement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6961572" y="3889361"/>
            <a:ext cx="1725091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Dédouanement Export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8834759" y="3880547"/>
            <a:ext cx="1633091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 International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0570608" y="3874750"/>
            <a:ext cx="1212521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Assurance-Transport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2061099" y="5137192"/>
            <a:ext cx="4037860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Déchargement à la frontière Arrivée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6261716" y="5137192"/>
            <a:ext cx="2573043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Post-acheminement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8997516" y="5137192"/>
            <a:ext cx="3005094" cy="369332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Dédouanement Import</a:t>
            </a:r>
          </a:p>
        </p:txBody>
      </p:sp>
    </p:spTree>
    <p:extLst>
      <p:ext uri="{BB962C8B-B14F-4D97-AF65-F5344CB8AC3E}">
        <p14:creationId xmlns:p14="http://schemas.microsoft.com/office/powerpoint/2010/main" val="3791462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7" grpId="0" animBg="1"/>
      <p:bldP spid="33" grpId="0" animBg="1"/>
      <p:bldP spid="34" grpId="0" animBg="1"/>
      <p:bldP spid="3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99403" y="351488"/>
            <a:ext cx="10543953" cy="1280890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</a:t>
            </a:r>
            <a:b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Franco le long du navire (insérer le port d’expédition désigné)</a:t>
            </a:r>
            <a:b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Alongside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Ship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(insert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port of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shipment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000637" y="4027409"/>
          <a:ext cx="4201824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Vendeur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</a:t>
                      </a:r>
                    </a:p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7018791" y="4004881"/>
          <a:ext cx="44858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1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 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Acheteur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2" y="2903498"/>
            <a:ext cx="968524" cy="96852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781" y="2266354"/>
            <a:ext cx="1095763" cy="54788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708" y="2903498"/>
            <a:ext cx="968524" cy="96852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567" y="2266354"/>
            <a:ext cx="1095763" cy="54788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55" y="2960591"/>
            <a:ext cx="997944" cy="854337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39" y="2960591"/>
            <a:ext cx="997944" cy="854337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395" y="4201751"/>
            <a:ext cx="682993" cy="682993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079" y="4201750"/>
            <a:ext cx="682993" cy="682993"/>
          </a:xfrm>
          <a:prstGeom prst="rect">
            <a:avLst/>
          </a:prstGeom>
        </p:spPr>
      </p:pic>
      <p:cxnSp>
        <p:nvCxnSpPr>
          <p:cNvPr id="25" name="Connecteur droit 24"/>
          <p:cNvCxnSpPr/>
          <p:nvPr/>
        </p:nvCxnSpPr>
        <p:spPr>
          <a:xfrm>
            <a:off x="6083133" y="2727296"/>
            <a:ext cx="0" cy="2808000"/>
          </a:xfrm>
          <a:prstGeom prst="line">
            <a:avLst/>
          </a:prstGeom>
          <a:ln>
            <a:solidFill>
              <a:schemeClr val="accent1">
                <a:shade val="9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45" y="2903498"/>
            <a:ext cx="1044976" cy="1103756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737" y="2882232"/>
            <a:ext cx="1044976" cy="110375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974444" y="4976037"/>
            <a:ext cx="4231951" cy="446568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4445" y="5622613"/>
            <a:ext cx="4231951" cy="44656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Risques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4443" y="6260811"/>
            <a:ext cx="4231951" cy="446568"/>
          </a:xfrm>
          <a:prstGeom prst="rect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Docs.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168703" y="2285568"/>
            <a:ext cx="170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7199790" y="4976037"/>
            <a:ext cx="4607511" cy="1477328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 et les remettre au transporteur international désigné par l’acheteur sur le quai du port d’embarquement.</a:t>
            </a:r>
          </a:p>
        </p:txBody>
      </p:sp>
    </p:spTree>
    <p:extLst>
      <p:ext uri="{BB962C8B-B14F-4D97-AF65-F5344CB8AC3E}">
        <p14:creationId xmlns:p14="http://schemas.microsoft.com/office/powerpoint/2010/main" val="315047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 animBg="1"/>
      <p:bldP spid="30" grpId="0" animBg="1"/>
      <p:bldP spid="31" grpId="0" animBg="1"/>
      <p:bldP spid="24" grpId="0"/>
      <p:bldP spid="2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40023" y="330129"/>
            <a:ext cx="9764589" cy="1574871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</a:t>
            </a:r>
            <a:b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Franco le long du navire (insérer le port d’expédition désigné)</a:t>
            </a:r>
            <a:b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Alongside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Ship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(insert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port of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shipment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fr-FR" sz="18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177553" y="2200692"/>
            <a:ext cx="5149049" cy="1631216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 et les remettre au transporteur international désigné par l’acheteur sur le quai du port d’embarquement.</a:t>
            </a:r>
          </a:p>
        </p:txBody>
      </p:sp>
      <p:sp>
        <p:nvSpPr>
          <p:cNvPr id="7" name="Flèche droite à entaille 6"/>
          <p:cNvSpPr/>
          <p:nvPr/>
        </p:nvSpPr>
        <p:spPr>
          <a:xfrm>
            <a:off x="177553" y="3846456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2061099" y="3921946"/>
            <a:ext cx="1925364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Emballage</a:t>
            </a:r>
          </a:p>
        </p:txBody>
      </p:sp>
      <p:sp>
        <p:nvSpPr>
          <p:cNvPr id="34" name="Flèche droite à entaille 33"/>
          <p:cNvSpPr/>
          <p:nvPr/>
        </p:nvSpPr>
        <p:spPr>
          <a:xfrm>
            <a:off x="177553" y="4887564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/>
          <p:cNvSpPr txBox="1"/>
          <p:nvPr/>
        </p:nvSpPr>
        <p:spPr>
          <a:xfrm>
            <a:off x="2061098" y="5013029"/>
            <a:ext cx="9722031" cy="707886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FCA = EXW + Frais de chargement au domicile du vendeur + Frais de préacheminement + Frais de dédouanement à l’exportation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7560" y="3914637"/>
            <a:ext cx="2644880" cy="646331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Chargement au domicile du vendeur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7093537" y="3914637"/>
            <a:ext cx="2644880" cy="369332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Préacheminement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9996425" y="3921946"/>
            <a:ext cx="1786705" cy="646331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Dédouanement Export</a:t>
            </a:r>
          </a:p>
        </p:txBody>
      </p:sp>
    </p:spTree>
    <p:extLst>
      <p:ext uri="{BB962C8B-B14F-4D97-AF65-F5344CB8AC3E}">
        <p14:creationId xmlns:p14="http://schemas.microsoft.com/office/powerpoint/2010/main" val="8599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7" grpId="0" animBg="1"/>
      <p:bldP spid="33" grpId="0" animBg="1"/>
      <p:bldP spid="34" grpId="0" animBg="1"/>
      <p:bldP spid="35" grpId="0" animBg="1"/>
      <p:bldP spid="9" grpId="0" animBg="1"/>
      <p:bldP spid="10" grpId="0" animBg="1"/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99403" y="351488"/>
            <a:ext cx="10543953" cy="1280890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FOB</a:t>
            </a:r>
            <a:b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Franco à bord (insérer le port d’expédition désigné)</a:t>
            </a:r>
            <a:b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 on Board (insert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port of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shipment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000637" y="4027409"/>
          <a:ext cx="4201824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Vendeur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</a:t>
                      </a:r>
                    </a:p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7018791" y="4004881"/>
          <a:ext cx="44858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1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 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Acheteur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2" y="2903498"/>
            <a:ext cx="968524" cy="96852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781" y="2266354"/>
            <a:ext cx="1095763" cy="54788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708" y="2903498"/>
            <a:ext cx="968524" cy="96852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567" y="2266354"/>
            <a:ext cx="1095763" cy="54788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55" y="2960591"/>
            <a:ext cx="997944" cy="854337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39" y="2960591"/>
            <a:ext cx="997944" cy="854337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395" y="4201751"/>
            <a:ext cx="682993" cy="682993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079" y="4201750"/>
            <a:ext cx="682993" cy="682993"/>
          </a:xfrm>
          <a:prstGeom prst="rect">
            <a:avLst/>
          </a:prstGeom>
        </p:spPr>
      </p:pic>
      <p:cxnSp>
        <p:nvCxnSpPr>
          <p:cNvPr id="25" name="Connecteur droit 24"/>
          <p:cNvCxnSpPr/>
          <p:nvPr/>
        </p:nvCxnSpPr>
        <p:spPr>
          <a:xfrm>
            <a:off x="6083133" y="2727296"/>
            <a:ext cx="0" cy="2808000"/>
          </a:xfrm>
          <a:prstGeom prst="line">
            <a:avLst/>
          </a:prstGeom>
          <a:ln>
            <a:solidFill>
              <a:schemeClr val="accent1">
                <a:shade val="9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45" y="2903498"/>
            <a:ext cx="1044976" cy="1103756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737" y="2882232"/>
            <a:ext cx="1044976" cy="110375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974444" y="4976037"/>
            <a:ext cx="4586383" cy="446568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4445" y="5622613"/>
            <a:ext cx="4586383" cy="44656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Risques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4443" y="6260811"/>
            <a:ext cx="4231951" cy="446568"/>
          </a:xfrm>
          <a:prstGeom prst="rect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Docs.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168703" y="2285568"/>
            <a:ext cx="170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7199790" y="4976037"/>
            <a:ext cx="4607511" cy="1477328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 et les remettre au transporteur international désigné par l’acheteur à bord du navire au port d’embarquement.</a:t>
            </a:r>
          </a:p>
        </p:txBody>
      </p:sp>
    </p:spTree>
    <p:extLst>
      <p:ext uri="{BB962C8B-B14F-4D97-AF65-F5344CB8AC3E}">
        <p14:creationId xmlns:p14="http://schemas.microsoft.com/office/powerpoint/2010/main" val="150561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 animBg="1"/>
      <p:bldP spid="30" grpId="0" animBg="1"/>
      <p:bldP spid="31" grpId="0" animBg="1"/>
      <p:bldP spid="24" grpId="0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40023" y="330129"/>
            <a:ext cx="9764589" cy="1574871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FOB</a:t>
            </a:r>
            <a:b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Franco à bord (insérer le port d’expédition désigné)</a:t>
            </a:r>
            <a:b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 on Board (insert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port of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shipment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fr-FR" sz="11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177553" y="1949146"/>
            <a:ext cx="5149049" cy="1631216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 et les remettre au transporteur international désigné par l’acheteur sur le quai du port d’embarquement.</a:t>
            </a:r>
          </a:p>
        </p:txBody>
      </p:sp>
      <p:sp>
        <p:nvSpPr>
          <p:cNvPr id="7" name="Flèche droite à entaille 6"/>
          <p:cNvSpPr/>
          <p:nvPr/>
        </p:nvSpPr>
        <p:spPr>
          <a:xfrm>
            <a:off x="177553" y="3846456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2061099" y="3921946"/>
            <a:ext cx="1925364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Emballage</a:t>
            </a:r>
          </a:p>
        </p:txBody>
      </p:sp>
      <p:sp>
        <p:nvSpPr>
          <p:cNvPr id="34" name="Flèche droite à entaille 33"/>
          <p:cNvSpPr/>
          <p:nvPr/>
        </p:nvSpPr>
        <p:spPr>
          <a:xfrm>
            <a:off x="177553" y="5494911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/>
          <p:cNvSpPr txBox="1"/>
          <p:nvPr/>
        </p:nvSpPr>
        <p:spPr>
          <a:xfrm>
            <a:off x="2061099" y="5608753"/>
            <a:ext cx="9722031" cy="40011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FOB = FAS + Frais de mise sous palan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7560" y="3914637"/>
            <a:ext cx="2644880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Chargement au domicile du vendeur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7093537" y="3914637"/>
            <a:ext cx="2644880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Préacheminement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9996425" y="3921946"/>
            <a:ext cx="1786705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Dédouanement Export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2061099" y="4879693"/>
            <a:ext cx="3016928" cy="369332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Frais de mise sous palan</a:t>
            </a:r>
          </a:p>
        </p:txBody>
      </p:sp>
    </p:spTree>
    <p:extLst>
      <p:ext uri="{BB962C8B-B14F-4D97-AF65-F5344CB8AC3E}">
        <p14:creationId xmlns:p14="http://schemas.microsoft.com/office/powerpoint/2010/main" val="199321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7" grpId="0" animBg="1"/>
      <p:bldP spid="33" grpId="0" animBg="1"/>
      <p:bldP spid="34" grpId="0" animBg="1"/>
      <p:bldP spid="35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99403" y="351488"/>
            <a:ext cx="10543953" cy="1280890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CFR</a:t>
            </a:r>
            <a:b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 et fret (insérer le port de destination désigné)</a:t>
            </a:r>
            <a:b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Cost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Freight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(insert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port of destination)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000637" y="4027409"/>
          <a:ext cx="4201824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Vendeur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</a:t>
                      </a:r>
                    </a:p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7018791" y="4004881"/>
          <a:ext cx="44858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1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 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Acheteur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2" y="2903498"/>
            <a:ext cx="968524" cy="96852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781" y="2266354"/>
            <a:ext cx="1095763" cy="54788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708" y="2903498"/>
            <a:ext cx="968524" cy="96852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567" y="2266354"/>
            <a:ext cx="1095763" cy="54788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55" y="2960591"/>
            <a:ext cx="997944" cy="854337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39" y="2960591"/>
            <a:ext cx="997944" cy="854337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395" y="4201751"/>
            <a:ext cx="682993" cy="682993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079" y="4201750"/>
            <a:ext cx="682993" cy="682993"/>
          </a:xfrm>
          <a:prstGeom prst="rect">
            <a:avLst/>
          </a:prstGeom>
        </p:spPr>
      </p:pic>
      <p:cxnSp>
        <p:nvCxnSpPr>
          <p:cNvPr id="25" name="Connecteur droit 24"/>
          <p:cNvCxnSpPr/>
          <p:nvPr/>
        </p:nvCxnSpPr>
        <p:spPr>
          <a:xfrm>
            <a:off x="6083133" y="2727296"/>
            <a:ext cx="0" cy="2808000"/>
          </a:xfrm>
          <a:prstGeom prst="line">
            <a:avLst/>
          </a:prstGeom>
          <a:ln>
            <a:solidFill>
              <a:schemeClr val="accent1">
                <a:shade val="9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45" y="2903498"/>
            <a:ext cx="1044976" cy="1103756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737" y="2882232"/>
            <a:ext cx="1044976" cy="110375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985733" y="4976951"/>
            <a:ext cx="5606453" cy="446568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4445" y="5622613"/>
            <a:ext cx="4586383" cy="44656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Risques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4443" y="6260811"/>
            <a:ext cx="5617743" cy="446568"/>
          </a:xfrm>
          <a:prstGeom prst="rect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Docs.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168703" y="2285568"/>
            <a:ext cx="170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7226422" y="5006767"/>
            <a:ext cx="4607511" cy="1477328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 et les remettre à l’acheteur ou son représentant sur le moyen de transport international au port d’arrivée. </a:t>
            </a:r>
          </a:p>
        </p:txBody>
      </p:sp>
    </p:spTree>
    <p:extLst>
      <p:ext uri="{BB962C8B-B14F-4D97-AF65-F5344CB8AC3E}">
        <p14:creationId xmlns:p14="http://schemas.microsoft.com/office/powerpoint/2010/main" val="40713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 animBg="1"/>
      <p:bldP spid="30" grpId="0" animBg="1"/>
      <p:bldP spid="31" grpId="0" animBg="1"/>
      <p:bldP spid="24" grpId="0"/>
      <p:bldP spid="2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40023" y="330129"/>
            <a:ext cx="9764589" cy="1574871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CFR</a:t>
            </a:r>
            <a:b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 et fret (insérer le port de destination désigné)</a:t>
            </a:r>
            <a:b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Cost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Freight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(insert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port of destination)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177553" y="2200692"/>
            <a:ext cx="5149049" cy="1631216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 et les remettre au transporteur international désigné par l’acheteur sur le quai du port d’embarquement.</a:t>
            </a:r>
          </a:p>
        </p:txBody>
      </p:sp>
      <p:sp>
        <p:nvSpPr>
          <p:cNvPr id="7" name="Flèche droite à entaille 6"/>
          <p:cNvSpPr/>
          <p:nvPr/>
        </p:nvSpPr>
        <p:spPr>
          <a:xfrm>
            <a:off x="177553" y="3846456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2061099" y="3921946"/>
            <a:ext cx="1925364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Emballage</a:t>
            </a:r>
          </a:p>
        </p:txBody>
      </p:sp>
      <p:sp>
        <p:nvSpPr>
          <p:cNvPr id="34" name="Flèche droite à entaille 33"/>
          <p:cNvSpPr/>
          <p:nvPr/>
        </p:nvSpPr>
        <p:spPr>
          <a:xfrm>
            <a:off x="177553" y="5494911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/>
          <p:cNvSpPr txBox="1"/>
          <p:nvPr/>
        </p:nvSpPr>
        <p:spPr>
          <a:xfrm>
            <a:off x="2061099" y="5608753"/>
            <a:ext cx="9722031" cy="40011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CFR = FOB + Frais d’arrimage + Fret Maritime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7560" y="3914637"/>
            <a:ext cx="2644880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Chargement au domicile du vendeur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7093537" y="3914637"/>
            <a:ext cx="2644880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Préacheminement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9996425" y="3921946"/>
            <a:ext cx="1786705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Dédouanement Export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2061099" y="4879693"/>
            <a:ext cx="3016928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Frais de mise sous palan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5300248" y="4871150"/>
            <a:ext cx="3016928" cy="369332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Frais d’arrimage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8539397" y="4870620"/>
            <a:ext cx="3016928" cy="369332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Fret Maritime</a:t>
            </a:r>
          </a:p>
        </p:txBody>
      </p:sp>
    </p:spTree>
    <p:extLst>
      <p:ext uri="{BB962C8B-B14F-4D97-AF65-F5344CB8AC3E}">
        <p14:creationId xmlns:p14="http://schemas.microsoft.com/office/powerpoint/2010/main" val="153964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7" grpId="0" animBg="1"/>
      <p:bldP spid="33" grpId="0" animBg="1"/>
      <p:bldP spid="34" grpId="0" animBg="1"/>
      <p:bldP spid="3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99403" y="351488"/>
            <a:ext cx="10543953" cy="1280890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CIF</a:t>
            </a:r>
            <a:b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Coût, assurance et fret (insérer le port de destination désigné)</a:t>
            </a:r>
            <a:b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Cost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Insurance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Freight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(insert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port of destination)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000637" y="4027409"/>
          <a:ext cx="4201824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Vendeur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</a:t>
                      </a:r>
                    </a:p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7018791" y="4004881"/>
          <a:ext cx="44858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1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Trans. Intérieur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Acheteur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2" y="2903498"/>
            <a:ext cx="968524" cy="96852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781" y="2266354"/>
            <a:ext cx="1095763" cy="54788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708" y="2903498"/>
            <a:ext cx="968524" cy="96852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567" y="2266354"/>
            <a:ext cx="1095763" cy="54788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55" y="2960591"/>
            <a:ext cx="997944" cy="854337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39" y="2960591"/>
            <a:ext cx="997944" cy="854337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395" y="4201751"/>
            <a:ext cx="682993" cy="682993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079" y="4201750"/>
            <a:ext cx="682993" cy="682993"/>
          </a:xfrm>
          <a:prstGeom prst="rect">
            <a:avLst/>
          </a:prstGeom>
        </p:spPr>
      </p:pic>
      <p:cxnSp>
        <p:nvCxnSpPr>
          <p:cNvPr id="25" name="Connecteur droit 24"/>
          <p:cNvCxnSpPr/>
          <p:nvPr/>
        </p:nvCxnSpPr>
        <p:spPr>
          <a:xfrm>
            <a:off x="6083133" y="2727296"/>
            <a:ext cx="0" cy="2808000"/>
          </a:xfrm>
          <a:prstGeom prst="line">
            <a:avLst/>
          </a:prstGeom>
          <a:ln>
            <a:solidFill>
              <a:schemeClr val="accent1">
                <a:shade val="9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45" y="2903498"/>
            <a:ext cx="1044976" cy="1103756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737" y="2882232"/>
            <a:ext cx="1044976" cy="110375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985733" y="4976951"/>
            <a:ext cx="5606453" cy="446568"/>
          </a:xfrm>
          <a:prstGeom prst="rect">
            <a:avLst/>
          </a:prstGeom>
          <a:solidFill>
            <a:srgbClr val="00206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4445" y="5622613"/>
            <a:ext cx="4586383" cy="446568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Risques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4443" y="6260811"/>
            <a:ext cx="5617743" cy="446568"/>
          </a:xfrm>
          <a:prstGeom prst="rect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Docs.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168703" y="2285568"/>
            <a:ext cx="170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7226422" y="5006767"/>
            <a:ext cx="4607511" cy="1477328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l’exportation, les assurer et les remettre à l’acheteur ou son représentant sur le moyen de transport international au port d’arrivée. </a:t>
            </a:r>
          </a:p>
        </p:txBody>
      </p:sp>
    </p:spTree>
    <p:extLst>
      <p:ext uri="{BB962C8B-B14F-4D97-AF65-F5344CB8AC3E}">
        <p14:creationId xmlns:p14="http://schemas.microsoft.com/office/powerpoint/2010/main" val="294131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 animBg="1"/>
      <p:bldP spid="30" grpId="0" animBg="1"/>
      <p:bldP spid="31" grpId="0" animBg="1"/>
      <p:bldP spid="24" grpId="0"/>
      <p:bldP spid="2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40023" y="330129"/>
            <a:ext cx="9764589" cy="1574871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CIF</a:t>
            </a:r>
            <a:b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Coût, assurance et fret (insérer le port de destination désigné)</a:t>
            </a:r>
            <a:b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Cost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Insurance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Freight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(insert </a:t>
            </a:r>
            <a:r>
              <a:rPr lang="fr-FR" sz="24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  <a:r>
              <a:rPr lang="fr-FR" sz="24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port of destination)</a:t>
            </a:r>
            <a:endParaRPr lang="fr-FR" sz="28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177553" y="2200692"/>
            <a:ext cx="5149049" cy="1631216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vendeur doit emballer les marchandises, les dédouaner à l’exportation et les remettre au transporteur international désigné par l’acheteur sur le quai du port d’embarquement.</a:t>
            </a:r>
          </a:p>
        </p:txBody>
      </p:sp>
      <p:sp>
        <p:nvSpPr>
          <p:cNvPr id="7" name="Flèche droite à entaille 6"/>
          <p:cNvSpPr/>
          <p:nvPr/>
        </p:nvSpPr>
        <p:spPr>
          <a:xfrm>
            <a:off x="177553" y="3846456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2061099" y="3921946"/>
            <a:ext cx="1925364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Emballage</a:t>
            </a:r>
          </a:p>
        </p:txBody>
      </p:sp>
      <p:sp>
        <p:nvSpPr>
          <p:cNvPr id="34" name="Flèche droite à entaille 33"/>
          <p:cNvSpPr/>
          <p:nvPr/>
        </p:nvSpPr>
        <p:spPr>
          <a:xfrm>
            <a:off x="177553" y="5494911"/>
            <a:ext cx="1731146" cy="612559"/>
          </a:xfrm>
          <a:prstGeom prst="notchedRightArrow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/>
          <p:cNvSpPr txBox="1"/>
          <p:nvPr/>
        </p:nvSpPr>
        <p:spPr>
          <a:xfrm>
            <a:off x="2061099" y="5608753"/>
            <a:ext cx="9722031" cy="400110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CFR = FOB + Frais d’arrimage + Fret Maritime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7560" y="3914637"/>
            <a:ext cx="2644880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Chargement au domicile du vendeur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7093537" y="3914637"/>
            <a:ext cx="2644880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Préacheminement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9996425" y="3921946"/>
            <a:ext cx="1786705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Dédouanement Export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2061099" y="4879693"/>
            <a:ext cx="2297837" cy="646331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Frais de mise sous palan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4511336" y="4879693"/>
            <a:ext cx="2058140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Frais d’arrimage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6721876" y="4874891"/>
            <a:ext cx="2120283" cy="369332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Fret Maritime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8994559" y="4872490"/>
            <a:ext cx="2788571" cy="369332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fr-FR" b="1" i="1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Assurance-Transport</a:t>
            </a:r>
          </a:p>
        </p:txBody>
      </p:sp>
    </p:spTree>
    <p:extLst>
      <p:ext uri="{BB962C8B-B14F-4D97-AF65-F5344CB8AC3E}">
        <p14:creationId xmlns:p14="http://schemas.microsoft.com/office/powerpoint/2010/main" val="258111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7" grpId="0" animBg="1"/>
      <p:bldP spid="33" grpId="0" animBg="1"/>
      <p:bldP spid="34" grpId="0" animBg="1"/>
      <p:bldP spid="3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3999" y="1363579"/>
            <a:ext cx="10507579" cy="1656911"/>
          </a:xfrm>
          <a:solidFill>
            <a:srgbClr val="002060"/>
          </a:solidFill>
        </p:spPr>
        <p:txBody>
          <a:bodyPr anchor="ctr">
            <a:noAutofit/>
          </a:bodyPr>
          <a:lstStyle/>
          <a:p>
            <a:pPr algn="ctr"/>
            <a:r>
              <a:rPr lang="fr-F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Calibri" pitchFamily="34" charset="0"/>
              </a:rPr>
              <a:t>SECTION 4 : CHOIX DÉFINITIF DE L’INCOTERM</a:t>
            </a:r>
          </a:p>
        </p:txBody>
      </p:sp>
      <p:sp>
        <p:nvSpPr>
          <p:cNvPr id="18" name="Espace réservé du contenu 2"/>
          <p:cNvSpPr>
            <a:spLocks noGrp="1"/>
          </p:cNvSpPr>
          <p:nvPr>
            <p:ph idx="1"/>
          </p:nvPr>
        </p:nvSpPr>
        <p:spPr>
          <a:xfrm>
            <a:off x="1523999" y="3405500"/>
            <a:ext cx="10507579" cy="2738625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fr-F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 IMPORTATEUR FRANÇAIS A SOLLICITÉ 2 FOURNISSEURS MAROCAINS DANS LE CADRE D’UNE TRANSACTION CFR MARSEILLE. IL A REÇU LES 2 OFFRES SUIVANTES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42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8490328"/>
              </p:ext>
            </p:extLst>
          </p:nvPr>
        </p:nvGraphicFramePr>
        <p:xfrm>
          <a:off x="740332" y="1354516"/>
          <a:ext cx="11277598" cy="5390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5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3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8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667">
                <a:tc>
                  <a:txBody>
                    <a:bodyPr/>
                    <a:lstStyle/>
                    <a:p>
                      <a:pPr algn="ctr"/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En 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Fournisseur F</a:t>
                      </a:r>
                      <a:r>
                        <a:rPr lang="fr-FR" sz="2800" b="1" cap="small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Fournisseur</a:t>
                      </a:r>
                      <a:r>
                        <a:rPr lang="fr-FR" sz="2800" b="1" cap="small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F</a:t>
                      </a:r>
                      <a:r>
                        <a:rPr lang="fr-FR" sz="2800" b="1" cap="small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398">
                <a:tc>
                  <a:txBody>
                    <a:bodyPr/>
                    <a:lstStyle/>
                    <a:p>
                      <a:pPr algn="l"/>
                      <a:r>
                        <a:rPr lang="fr-FR" sz="2800" b="1" cap="small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EXW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800" b="1" cap="small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13</a:t>
                      </a:r>
                      <a:r>
                        <a:rPr lang="fr-FR" sz="2800" b="1" cap="small" baseline="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500</a:t>
                      </a:r>
                      <a:endParaRPr lang="fr-FR" sz="2800" b="1" cap="small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800" b="1" cap="small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14 200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1953">
                <a:tc>
                  <a:txBody>
                    <a:bodyPr/>
                    <a:lstStyle/>
                    <a:p>
                      <a:pPr algn="l"/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Chargement/Empotage</a:t>
                      </a:r>
                    </a:p>
                    <a:p>
                      <a:pPr algn="l"/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Pré-acheminement</a:t>
                      </a:r>
                    </a:p>
                    <a:p>
                      <a:pPr algn="l"/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Douane Export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200</a:t>
                      </a:r>
                    </a:p>
                    <a:p>
                      <a:pPr algn="r"/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300</a:t>
                      </a:r>
                    </a:p>
                    <a:p>
                      <a:pPr algn="r"/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150</a:t>
                      </a:r>
                    </a:p>
                    <a:p>
                      <a:pPr algn="r"/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200</a:t>
                      </a:r>
                    </a:p>
                    <a:p>
                      <a:pPr algn="r"/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398">
                <a:tc>
                  <a:txBody>
                    <a:bodyPr/>
                    <a:lstStyle/>
                    <a:p>
                      <a:pPr algn="l"/>
                      <a:r>
                        <a:rPr lang="fr-FR" sz="2800" b="1" cap="small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FAS CASABLANCA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800" b="1" cap="small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14 300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800" b="1" cap="small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14 650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40">
                <a:tc>
                  <a:txBody>
                    <a:bodyPr/>
                    <a:lstStyle/>
                    <a:p>
                      <a:pPr algn="l"/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Chargement sur le navire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fr-FR" sz="2800" b="1" cap="small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FOB CASABLANCA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800" b="1" cap="small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14 400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800" b="1" cap="small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14 700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7408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Fret maritime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1" cap="smal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496">
                <a:tc>
                  <a:txBody>
                    <a:bodyPr/>
                    <a:lstStyle/>
                    <a:p>
                      <a:pPr algn="l"/>
                      <a:r>
                        <a:rPr lang="fr-FR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CFR</a:t>
                      </a:r>
                      <a:r>
                        <a:rPr lang="fr-FR" sz="2800" b="1" baseline="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MARSEILLE</a:t>
                      </a:r>
                      <a:endParaRPr lang="fr-FR" sz="2800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15 000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15 000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8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rin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3104</TotalTime>
  <Words>3075</Words>
  <Application>Microsoft Office PowerPoint</Application>
  <PresentationFormat>Grand écran</PresentationFormat>
  <Paragraphs>710</Paragraphs>
  <Slides>53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53</vt:i4>
      </vt:variant>
    </vt:vector>
  </HeadingPairs>
  <TitlesOfParts>
    <vt:vector size="58" baseType="lpstr">
      <vt:lpstr>Arial</vt:lpstr>
      <vt:lpstr>Calibri</vt:lpstr>
      <vt:lpstr>Century Gothic</vt:lpstr>
      <vt:lpstr>Wingdings 3</vt:lpstr>
      <vt:lpstr>Brin</vt:lpstr>
      <vt:lpstr>CHAPITRE 1 : INCOTERMS 2020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FAMILLE E</vt:lpstr>
      <vt:lpstr>FAMILLE F</vt:lpstr>
      <vt:lpstr>FAMILLE C</vt:lpstr>
      <vt:lpstr>FAMILLE D</vt:lpstr>
      <vt:lpstr>Présentation PowerPoint</vt:lpstr>
      <vt:lpstr>EXW  À l’usine (insérer le lieu de livraison désigné) Ex Works (insert named place of delivry)</vt:lpstr>
      <vt:lpstr>EXW  À l’usine (insérer le lieu de livraison désigné) Ex Works (insert named place of delivry)</vt:lpstr>
      <vt:lpstr>FCA Franco Transporteur (insérer le lieu de livraison désigné) Free Carrier(insert named place of delivry)</vt:lpstr>
      <vt:lpstr>FCA Franco Transporteur (insérer le lieu de livraison désigné) Free Carrier(insert named place of delivry)</vt:lpstr>
      <vt:lpstr>CPT Port payé jusqu’à (insérer le lieu de destination désigné) Carriage Paid To(insert named place of destination)</vt:lpstr>
      <vt:lpstr>CPT Port payé jusqu’à (insérer le lieu de destination désigné) Carriage Paid To(insert named place of destination)</vt:lpstr>
      <vt:lpstr>CIP Port payé, assurance comprise jusqu’à (insérer le lieu de destination désigné) Carriage and Insurance Paid To(insert named place of destination)</vt:lpstr>
      <vt:lpstr>CIP Port payé, assurance comprise jusqu’à (insérer le lieu de destination désigné) Carriage and Insurance Paid To(insert named place of destination)</vt:lpstr>
      <vt:lpstr>DPU Rendu au lieu de destination déchargé (insérer le lieu de destination désigné) Delivered at Place Unloaded (insert named place of destination)</vt:lpstr>
      <vt:lpstr>DPU Rendu au lieu de destination déchargé (insérer le lieu de destination désigné) Delivered at Place Unloaded (insert named place of destination)</vt:lpstr>
      <vt:lpstr>DAP Rendu au lieu de destination (insérer le lieu de destination désigné) Delivered at Place (insert named place of destination)</vt:lpstr>
      <vt:lpstr>DAP Rendu au lieu de destination (insérer le lieu de destination désigné) Delivered at Place (insert named place of destination)</vt:lpstr>
      <vt:lpstr>DDP Rendu droits acquittés (insérer le lieu de destination désigné) Delivered Duty Paid (insert named place of destination)</vt:lpstr>
      <vt:lpstr>DAP Rendu au lieu de destination (insérer le lieu de destination désigné) Delivered at Place (insert named place of destination)</vt:lpstr>
      <vt:lpstr>FAS Franco le long du navire (insérer le port d’expédition désigné) Free Alongside Ship (insert named port of shipment)</vt:lpstr>
      <vt:lpstr>FAS Franco le long du navire (insérer le port d’expédition désigné) Free Alongside Ship (insert named port of shipment)</vt:lpstr>
      <vt:lpstr>FOB Franco à bord (insérer le port d’expédition désigné) Free on Board (insert named port of shipment)</vt:lpstr>
      <vt:lpstr>FOB Franco à bord (insérer le port d’expédition désigné) Free on Board (insert named port of shipment)</vt:lpstr>
      <vt:lpstr>CFR Coût et fret (insérer le port de destination désigné) Cost and Freight (insert named port of destination)</vt:lpstr>
      <vt:lpstr>CFR Coût et fret (insérer le port de destination désigné) Cost and Freight (insert named port of destination)</vt:lpstr>
      <vt:lpstr>CIF Coût, assurance et fret (insérer le port de destination désigné) Cost Insurance and Freight (insert named port of destination)</vt:lpstr>
      <vt:lpstr>CIF Coût, assurance et fret (insérer le port de destination désigné) Cost Insurance and Freight (insert named port of destination)</vt:lpstr>
      <vt:lpstr>SECTION 4 : CHOIX DÉFINITIF DE L’INCOTERM</vt:lpstr>
      <vt:lpstr>Présentation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DE COMMERCE INTERNATIONAL</dc:title>
  <dc:creator>BELRHITI ALAOUI AMIN</dc:creator>
  <cp:lastModifiedBy>Lenovo</cp:lastModifiedBy>
  <cp:revision>175</cp:revision>
  <cp:lastPrinted>2021-10-11T09:15:41Z</cp:lastPrinted>
  <dcterms:created xsi:type="dcterms:W3CDTF">2020-04-17T13:25:01Z</dcterms:created>
  <dcterms:modified xsi:type="dcterms:W3CDTF">2025-09-29T07:53:18Z</dcterms:modified>
</cp:coreProperties>
</file>